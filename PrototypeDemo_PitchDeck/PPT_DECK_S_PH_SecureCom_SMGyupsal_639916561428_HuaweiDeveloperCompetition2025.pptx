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8A613E3-8F48-4A97-97B1-000C9F558654}">
  <a:tblStyle styleId="{38A613E3-8F48-4A97-97B1-000C9F558654}"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DC457DB7-4CD4-488C-9992-266D6169CF9F}"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3F053AC-16A3-4EF2-AEF1-51B1CA87C59A}"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42763" lvl="0" marL="342763" rtl="0" algn="l">
              <a:lnSpc>
                <a:spcPct val="150000"/>
              </a:lnSpc>
              <a:spcBef>
                <a:spcPts val="0"/>
              </a:spcBef>
              <a:spcAft>
                <a:spcPts val="0"/>
              </a:spcAft>
              <a:buClr>
                <a:schemeClr val="dk1"/>
              </a:buClr>
              <a:buSzPts val="1200"/>
              <a:buFont typeface="Arial"/>
              <a:buChar char="•"/>
            </a:pPr>
            <a:r>
              <a:rPr lang="en-US" sz="1200"/>
              <a:t>Overview</a:t>
            </a:r>
            <a:endParaRPr sz="1200"/>
          </a:p>
          <a:p>
            <a:pPr indent="-342763" lvl="0" marL="342763" rtl="0" algn="l">
              <a:lnSpc>
                <a:spcPct val="150000"/>
              </a:lnSpc>
              <a:spcBef>
                <a:spcPts val="0"/>
              </a:spcBef>
              <a:spcAft>
                <a:spcPts val="0"/>
              </a:spcAft>
              <a:buClr>
                <a:schemeClr val="dk1"/>
              </a:buClr>
              <a:buSzPts val="1200"/>
              <a:buFont typeface="Arial"/>
              <a:buChar char="•"/>
            </a:pPr>
            <a:r>
              <a:rPr lang="en-US" sz="1200"/>
              <a:t>Key technologies you selected and their collaboration with other functional modules</a:t>
            </a:r>
            <a:endParaRPr sz="1200"/>
          </a:p>
          <a:p>
            <a:pPr indent="-342763" lvl="0" marL="342763" rtl="0" algn="l">
              <a:lnSpc>
                <a:spcPct val="150000"/>
              </a:lnSpc>
              <a:spcBef>
                <a:spcPts val="0"/>
              </a:spcBef>
              <a:spcAft>
                <a:spcPts val="0"/>
              </a:spcAft>
              <a:buClr>
                <a:schemeClr val="dk1"/>
              </a:buClr>
              <a:buSzPts val="1200"/>
              <a:buFont typeface="Arial"/>
              <a:buChar char="•"/>
            </a:pPr>
            <a:r>
              <a:rPr lang="en-US" sz="1200"/>
              <a:t>Roles of the Huawei Cloud technologies you used in the project</a:t>
            </a:r>
            <a:endParaRPr sz="1200"/>
          </a:p>
          <a:p>
            <a:pPr indent="-342763" lvl="0" marL="342763" rtl="0" algn="l">
              <a:lnSpc>
                <a:spcPct val="150000"/>
              </a:lnSpc>
              <a:spcBef>
                <a:spcPts val="0"/>
              </a:spcBef>
              <a:spcAft>
                <a:spcPts val="0"/>
              </a:spcAft>
              <a:buClr>
                <a:schemeClr val="dk1"/>
              </a:buClr>
              <a:buSzPts val="1200"/>
              <a:buFont typeface="Arial"/>
              <a:buChar char="•"/>
            </a:pPr>
            <a:r>
              <a:rPr lang="en-US" sz="1200"/>
              <a:t>Implementation principles</a:t>
            </a:r>
            <a:endParaRPr sz="1200"/>
          </a:p>
          <a:p>
            <a:pPr indent="-342763" lvl="0" marL="342763" rtl="0" algn="l">
              <a:lnSpc>
                <a:spcPct val="150000"/>
              </a:lnSpc>
              <a:spcBef>
                <a:spcPts val="0"/>
              </a:spcBef>
              <a:spcAft>
                <a:spcPts val="0"/>
              </a:spcAft>
              <a:buClr>
                <a:schemeClr val="dk1"/>
              </a:buClr>
              <a:buSzPts val="1200"/>
              <a:buFont typeface="Arial"/>
              <a:buChar char="•"/>
            </a:pPr>
            <a:r>
              <a:rPr lang="en-US" sz="1200"/>
              <a:t>Solution deployment architecture diagram (including service flows)</a:t>
            </a:r>
            <a:endParaRPr/>
          </a:p>
          <a:p>
            <a:pPr indent="-342763" lvl="0" marL="342763" rtl="0" algn="l">
              <a:lnSpc>
                <a:spcPct val="150000"/>
              </a:lnSpc>
              <a:spcBef>
                <a:spcPts val="0"/>
              </a:spcBef>
              <a:spcAft>
                <a:spcPts val="0"/>
              </a:spcAft>
              <a:buClr>
                <a:schemeClr val="dk1"/>
              </a:buClr>
              <a:buSzPts val="1200"/>
              <a:buFont typeface="Arial"/>
              <a:buChar char="•"/>
            </a:pPr>
            <a:r>
              <a:rPr lang="en-US" sz="1200"/>
              <a:t>Technology maturity assessment, such as whether the technical roadmap is clear and tools are mature and reliable</a:t>
            </a:r>
            <a:endParaRPr/>
          </a:p>
          <a:p>
            <a:pPr indent="-266563" lvl="0" marL="342763" rtl="0" algn="l">
              <a:lnSpc>
                <a:spcPct val="150000"/>
              </a:lnSpc>
              <a:spcBef>
                <a:spcPts val="0"/>
              </a:spcBef>
              <a:spcAft>
                <a:spcPts val="0"/>
              </a:spcAft>
              <a:buClr>
                <a:schemeClr val="dk1"/>
              </a:buClr>
              <a:buSzPts val="1200"/>
              <a:buFont typeface="Arial"/>
              <a:buNone/>
            </a:pPr>
            <a:r>
              <a:t/>
            </a:r>
            <a:endParaRPr sz="1200"/>
          </a:p>
          <a:p>
            <a:pPr indent="0" lvl="0" marL="0" rtl="0" algn="l">
              <a:spcBef>
                <a:spcPts val="0"/>
              </a:spcBef>
              <a:spcAft>
                <a:spcPts val="0"/>
              </a:spcAft>
              <a:buNone/>
            </a:pPr>
            <a:r>
              <a:t/>
            </a:r>
            <a:endParaRPr/>
          </a:p>
        </p:txBody>
      </p:sp>
      <p:sp>
        <p:nvSpPr>
          <p:cNvPr id="110" name="Google Shape;11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标题和内容"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标题幻灯片" showMasterSp="0">
  <p:cSld name="1_标题幻灯片">
    <p:spTree>
      <p:nvGrpSpPr>
        <p:cNvPr id="21" name="Shape 21"/>
        <p:cNvGrpSpPr/>
        <p:nvPr/>
      </p:nvGrpSpPr>
      <p:grpSpPr>
        <a:xfrm>
          <a:off x="0" y="0"/>
          <a:ext cx="0" cy="0"/>
          <a:chOff x="0" y="0"/>
          <a:chExt cx="0" cy="0"/>
        </a:xfrm>
      </p:grpSpPr>
      <p:pic>
        <p:nvPicPr>
          <p:cNvPr id="22" name="Google Shape;22;p3"/>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showMasterSp="0">
  <p:cSld name="标题和内容">
    <p:spTree>
      <p:nvGrpSpPr>
        <p:cNvPr id="23" name="Shape 23"/>
        <p:cNvGrpSpPr/>
        <p:nvPr/>
      </p:nvGrpSpPr>
      <p:grpSpPr>
        <a:xfrm>
          <a:off x="0" y="0"/>
          <a:ext cx="0" cy="0"/>
          <a:chOff x="0" y="0"/>
          <a:chExt cx="0" cy="0"/>
        </a:xfrm>
      </p:grpSpPr>
      <p:sp>
        <p:nvSpPr>
          <p:cNvPr id="24" name="Google Shape;2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mailto:qarsantos02@tip.edu.ph" TargetMode="External"/><Relationship Id="rId4" Type="http://schemas.openxmlformats.org/officeDocument/2006/relationships/hyperlink" Target="mailto:qhamanuel@tip.edu.ph" TargetMode="External"/><Relationship Id="rId5" Type="http://schemas.openxmlformats.org/officeDocument/2006/relationships/hyperlink" Target="mailto:qmjkegob@tip.edu.ph" TargetMode="External"/><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1.jpg"/><Relationship Id="rId5" Type="http://schemas.openxmlformats.org/officeDocument/2006/relationships/image" Target="../media/image10.png"/><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hyperlink" Target="http://drive.google.com/file/d/1ktMXu_TeVdyBl5CnPbI0Q9kZDRxbb6Ee/view" TargetMode="External"/><Relationship Id="rId5"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 name="Shape 30"/>
        <p:cNvGrpSpPr/>
        <p:nvPr/>
      </p:nvGrpSpPr>
      <p:grpSpPr>
        <a:xfrm>
          <a:off x="0" y="0"/>
          <a:ext cx="0" cy="0"/>
          <a:chOff x="0" y="0"/>
          <a:chExt cx="0" cy="0"/>
        </a:xfrm>
      </p:grpSpPr>
      <p:sp>
        <p:nvSpPr>
          <p:cNvPr id="31" name="Google Shape;31;p5"/>
          <p:cNvSpPr/>
          <p:nvPr/>
        </p:nvSpPr>
        <p:spPr>
          <a:xfrm>
            <a:off x="959900" y="3947350"/>
            <a:ext cx="5795700" cy="1887300"/>
          </a:xfrm>
          <a:prstGeom prst="rect">
            <a:avLst/>
          </a:prstGeom>
          <a:noFill/>
          <a:ln>
            <a:noFill/>
          </a:ln>
        </p:spPr>
        <p:txBody>
          <a:bodyPr anchorCtr="0" anchor="t" bIns="45700" lIns="91425" spcFirstLastPara="1" rIns="91425" wrap="square" tIns="45700">
            <a:noAutofit/>
          </a:bodyPr>
          <a:lstStyle/>
          <a:p>
            <a:pPr indent="0" lvl="0" marL="0" marR="0" rtl="0" algn="l">
              <a:lnSpc>
                <a:spcPct val="200000"/>
              </a:lnSpc>
              <a:spcBef>
                <a:spcPts val="0"/>
              </a:spcBef>
              <a:spcAft>
                <a:spcPts val="0"/>
              </a:spcAft>
              <a:buNone/>
            </a:pPr>
            <a:r>
              <a:rPr b="0" i="0" lang="en-US" sz="1200" u="none" cap="none" strike="noStrike">
                <a:solidFill>
                  <a:schemeClr val="dk1"/>
                </a:solidFill>
                <a:latin typeface="Calibri"/>
                <a:ea typeface="Calibri"/>
                <a:cs typeface="Calibri"/>
                <a:sym typeface="Calibri"/>
              </a:rPr>
              <a:t>Project Name: SecureCom - AI-Powered Communication Fraud Defense Platform</a:t>
            </a:r>
            <a:endParaRPr sz="1200">
              <a:solidFill>
                <a:schemeClr val="dk1"/>
              </a:solidFill>
              <a:latin typeface="Calibri"/>
              <a:ea typeface="Calibri"/>
              <a:cs typeface="Calibri"/>
              <a:sym typeface="Calibri"/>
            </a:endParaRPr>
          </a:p>
          <a:p>
            <a:pPr indent="0" lvl="0" marL="0" marR="0" rtl="0" algn="l">
              <a:lnSpc>
                <a:spcPct val="200000"/>
              </a:lnSpc>
              <a:spcBef>
                <a:spcPts val="0"/>
              </a:spcBef>
              <a:spcAft>
                <a:spcPts val="0"/>
              </a:spcAft>
              <a:buNone/>
            </a:pPr>
            <a:r>
              <a:rPr b="0" i="0" lang="en-US" sz="1200" u="none" cap="none" strike="noStrike">
                <a:solidFill>
                  <a:schemeClr val="dk1"/>
                </a:solidFill>
                <a:latin typeface="Calibri"/>
                <a:ea typeface="Calibri"/>
                <a:cs typeface="Calibri"/>
                <a:sym typeface="Calibri"/>
              </a:rPr>
              <a:t>Team Name: SMGyupsal</a:t>
            </a:r>
            <a:endParaRPr b="0" i="0" sz="1200" u="none" cap="none" strike="noStrike">
              <a:solidFill>
                <a:schemeClr val="dk1"/>
              </a:solidFill>
              <a:latin typeface="Calibri"/>
              <a:ea typeface="Calibri"/>
              <a:cs typeface="Calibri"/>
              <a:sym typeface="Calibri"/>
            </a:endParaRPr>
          </a:p>
          <a:p>
            <a:pPr indent="0" lvl="0" marL="0" marR="0" rtl="0" algn="l">
              <a:lnSpc>
                <a:spcPct val="200000"/>
              </a:lnSpc>
              <a:spcBef>
                <a:spcPts val="0"/>
              </a:spcBef>
              <a:spcAft>
                <a:spcPts val="0"/>
              </a:spcAft>
              <a:buNone/>
            </a:pPr>
            <a:r>
              <a:rPr b="0" i="0" lang="en-US" sz="1200" u="none" cap="none" strike="noStrike">
                <a:solidFill>
                  <a:schemeClr val="dk1"/>
                </a:solidFill>
                <a:latin typeface="Calibri"/>
                <a:ea typeface="Calibri"/>
                <a:cs typeface="Calibri"/>
                <a:sym typeface="Calibri"/>
              </a:rPr>
              <a:t>University Name: Technological Institute of</a:t>
            </a:r>
            <a:r>
              <a:rPr lang="en-US" sz="1200">
                <a:solidFill>
                  <a:schemeClr val="dk1"/>
                </a:solidFill>
                <a:latin typeface="Calibri"/>
                <a:ea typeface="Calibri"/>
                <a:cs typeface="Calibri"/>
                <a:sym typeface="Calibri"/>
              </a:rPr>
              <a:t> the Philippines - Quezon City</a:t>
            </a:r>
            <a:endParaRPr/>
          </a:p>
          <a:p>
            <a:pPr indent="0" lvl="0" marL="0" marR="0" rtl="0" algn="l">
              <a:lnSpc>
                <a:spcPct val="200000"/>
              </a:lnSpc>
              <a:spcBef>
                <a:spcPts val="0"/>
              </a:spcBef>
              <a:spcAft>
                <a:spcPts val="0"/>
              </a:spcAft>
              <a:buNone/>
            </a:pPr>
            <a:r>
              <a:rPr b="0" i="0" lang="en-US" sz="1200" u="none" cap="none" strike="noStrike">
                <a:solidFill>
                  <a:schemeClr val="dk1"/>
                </a:solidFill>
                <a:latin typeface="Calibri"/>
                <a:ea typeface="Calibri"/>
                <a:cs typeface="Calibri"/>
                <a:sym typeface="Calibri"/>
              </a:rPr>
              <a:t>Team Leader Email: qarsantos02@tip.edu.ph</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Team Leader WhatsApp Contact Number: +63 911 656 1428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6"/>
          <p:cNvSpPr/>
          <p:nvPr/>
        </p:nvSpPr>
        <p:spPr>
          <a:xfrm>
            <a:off x="2970191" y="1"/>
            <a:ext cx="9221809" cy="68579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aphicFrame>
        <p:nvGraphicFramePr>
          <p:cNvPr id="37" name="Google Shape;37;p6"/>
          <p:cNvGraphicFramePr/>
          <p:nvPr/>
        </p:nvGraphicFramePr>
        <p:xfrm>
          <a:off x="3398945" y="1074967"/>
          <a:ext cx="3000000" cy="3000000"/>
        </p:xfrm>
        <a:graphic>
          <a:graphicData uri="http://schemas.openxmlformats.org/drawingml/2006/table">
            <a:tbl>
              <a:tblPr>
                <a:noFill/>
                <a:tableStyleId>{38A613E3-8F48-4A97-97B1-000C9F558654}</a:tableStyleId>
              </a:tblPr>
              <a:tblGrid>
                <a:gridCol w="1919675"/>
                <a:gridCol w="6444625"/>
              </a:tblGrid>
              <a:tr h="290075">
                <a:tc>
                  <a:txBody>
                    <a:bodyPr/>
                    <a:lstStyle/>
                    <a:p>
                      <a:pPr indent="0" lvl="0" marL="0" marR="0" rtl="0" algn="ctr">
                        <a:spcBef>
                          <a:spcPts val="0"/>
                        </a:spcBef>
                        <a:spcAft>
                          <a:spcPts val="0"/>
                        </a:spcAft>
                        <a:buNone/>
                      </a:pPr>
                      <a:r>
                        <a:rPr lang="en-US" sz="1200" u="none" cap="none" strike="noStrike">
                          <a:solidFill>
                            <a:srgbClr val="575756"/>
                          </a:solidFill>
                          <a:latin typeface="Calibri"/>
                          <a:ea typeface="Calibri"/>
                          <a:cs typeface="Calibri"/>
                          <a:sym typeface="Calibri"/>
                        </a:rPr>
                        <a:t>Project Name</a:t>
                      </a:r>
                      <a:endParaRPr sz="1200" u="none" cap="none" strike="noStrike">
                        <a:solidFill>
                          <a:srgbClr val="575756"/>
                        </a:solidFill>
                        <a:latin typeface="Calibri"/>
                        <a:ea typeface="Calibri"/>
                        <a:cs typeface="Calibri"/>
                        <a:sym typeface="Calibri"/>
                      </a:endParaRPr>
                    </a:p>
                  </a:txBody>
                  <a:tcPr marT="9525" marB="0" marR="9525" marL="9525" anchor="ctr"/>
                </a:tc>
                <a:tc>
                  <a:txBody>
                    <a:bodyPr/>
                    <a:lstStyle/>
                    <a:p>
                      <a:pPr indent="0" lvl="0" marL="0" marR="0" rtl="0" algn="ctr">
                        <a:spcBef>
                          <a:spcPts val="0"/>
                        </a:spcBef>
                        <a:spcAft>
                          <a:spcPts val="0"/>
                        </a:spcAft>
                        <a:buNone/>
                      </a:pPr>
                      <a:r>
                        <a:rPr i="1" lang="en-US" sz="1100">
                          <a:solidFill>
                            <a:srgbClr val="7F7F7F"/>
                          </a:solidFill>
                        </a:rPr>
                        <a:t>SecureCom - AI-Powered Communication Fraud Defense Platform</a:t>
                      </a:r>
                      <a:endParaRPr b="0" i="1" sz="1100" u="none" cap="none" strike="noStrike">
                        <a:solidFill>
                          <a:srgbClr val="7F7F7F"/>
                        </a:solidFill>
                        <a:latin typeface="Calibri"/>
                        <a:ea typeface="Calibri"/>
                        <a:cs typeface="Calibri"/>
                        <a:sym typeface="Calibri"/>
                      </a:endParaRPr>
                    </a:p>
                  </a:txBody>
                  <a:tcPr marT="9525" marB="0" marR="9525" marL="9525" anchor="ctr"/>
                </a:tc>
              </a:tr>
              <a:tr h="290075">
                <a:tc>
                  <a:txBody>
                    <a:bodyPr/>
                    <a:lstStyle/>
                    <a:p>
                      <a:pPr indent="0" lvl="0" marL="0" marR="0" rtl="0" algn="ctr">
                        <a:spcBef>
                          <a:spcPts val="0"/>
                        </a:spcBef>
                        <a:spcAft>
                          <a:spcPts val="0"/>
                        </a:spcAft>
                        <a:buNone/>
                      </a:pPr>
                      <a:r>
                        <a:rPr lang="en-US" sz="1200" u="none" cap="none" strike="noStrike">
                          <a:solidFill>
                            <a:srgbClr val="575756"/>
                          </a:solidFill>
                          <a:latin typeface="Calibri"/>
                          <a:ea typeface="Calibri"/>
                          <a:cs typeface="Calibri"/>
                          <a:sym typeface="Calibri"/>
                        </a:rPr>
                        <a:t>Team Name</a:t>
                      </a:r>
                      <a:endParaRPr sz="1200" u="none" cap="none" strike="noStrike">
                        <a:solidFill>
                          <a:srgbClr val="575756"/>
                        </a:solidFill>
                        <a:latin typeface="Calibri"/>
                        <a:ea typeface="Calibri"/>
                        <a:cs typeface="Calibri"/>
                        <a:sym typeface="Calibri"/>
                      </a:endParaRPr>
                    </a:p>
                  </a:txBody>
                  <a:tcPr marT="9525" marB="0" marR="9525" marL="9525" anchor="ctr"/>
                </a:tc>
                <a:tc>
                  <a:txBody>
                    <a:bodyPr/>
                    <a:lstStyle/>
                    <a:p>
                      <a:pPr indent="0" lvl="0" marL="0" marR="0" rtl="0" algn="ctr">
                        <a:spcBef>
                          <a:spcPts val="0"/>
                        </a:spcBef>
                        <a:spcAft>
                          <a:spcPts val="0"/>
                        </a:spcAft>
                        <a:buNone/>
                      </a:pPr>
                      <a:r>
                        <a:rPr i="1" lang="en-US" sz="1100">
                          <a:solidFill>
                            <a:srgbClr val="7F7F7F"/>
                          </a:solidFill>
                        </a:rPr>
                        <a:t>SMGyupsal</a:t>
                      </a:r>
                      <a:endParaRPr b="0" i="1" sz="1100" u="none" cap="none" strike="noStrike">
                        <a:solidFill>
                          <a:srgbClr val="7F7F7F"/>
                        </a:solidFill>
                        <a:latin typeface="Calibri"/>
                        <a:ea typeface="Calibri"/>
                        <a:cs typeface="Calibri"/>
                        <a:sym typeface="Calibri"/>
                      </a:endParaRPr>
                    </a:p>
                  </a:txBody>
                  <a:tcPr marT="9525" marB="0" marR="9525" marL="9525" anchor="ctr"/>
                </a:tc>
              </a:tr>
              <a:tr h="290075">
                <a:tc>
                  <a:txBody>
                    <a:bodyPr/>
                    <a:lstStyle/>
                    <a:p>
                      <a:pPr indent="0" lvl="0" marL="0" marR="0" rtl="0" algn="ctr">
                        <a:spcBef>
                          <a:spcPts val="0"/>
                        </a:spcBef>
                        <a:spcAft>
                          <a:spcPts val="0"/>
                        </a:spcAft>
                        <a:buNone/>
                      </a:pPr>
                      <a:r>
                        <a:rPr lang="en-US" sz="1200" u="none" cap="none" strike="noStrike">
                          <a:solidFill>
                            <a:srgbClr val="575756"/>
                          </a:solidFill>
                          <a:latin typeface="Calibri"/>
                          <a:ea typeface="Calibri"/>
                          <a:cs typeface="Calibri"/>
                          <a:sym typeface="Calibri"/>
                        </a:rPr>
                        <a:t>Contacts</a:t>
                      </a:r>
                      <a:endParaRPr sz="1200" u="none" cap="none" strike="noStrike">
                        <a:solidFill>
                          <a:srgbClr val="575756"/>
                        </a:solidFill>
                        <a:latin typeface="Calibri"/>
                        <a:ea typeface="Calibri"/>
                        <a:cs typeface="Calibri"/>
                        <a:sym typeface="Calibri"/>
                      </a:endParaRPr>
                    </a:p>
                  </a:txBody>
                  <a:tcPr marT="9525" marB="0" marR="9525" marL="9525" anchor="ctr"/>
                </a:tc>
                <a:tc>
                  <a:txBody>
                    <a:bodyPr/>
                    <a:lstStyle/>
                    <a:p>
                      <a:pPr indent="0" lvl="0" marL="0" marR="0" rtl="0" algn="ctr">
                        <a:spcBef>
                          <a:spcPts val="0"/>
                        </a:spcBef>
                        <a:spcAft>
                          <a:spcPts val="0"/>
                        </a:spcAft>
                        <a:buNone/>
                      </a:pPr>
                      <a:r>
                        <a:rPr i="1" lang="en-US" sz="1100" u="sng">
                          <a:solidFill>
                            <a:schemeClr val="hlink"/>
                          </a:solidFill>
                          <a:hlinkClick r:id="rId3"/>
                        </a:rPr>
                        <a:t>qarsantos02@tip.edu.ph</a:t>
                      </a:r>
                      <a:endParaRPr i="1" sz="1100">
                        <a:solidFill>
                          <a:srgbClr val="7F7F7F"/>
                        </a:solidFill>
                      </a:endParaRPr>
                    </a:p>
                    <a:p>
                      <a:pPr indent="0" lvl="0" marL="0" marR="0" rtl="0" algn="ctr">
                        <a:spcBef>
                          <a:spcPts val="0"/>
                        </a:spcBef>
                        <a:spcAft>
                          <a:spcPts val="0"/>
                        </a:spcAft>
                        <a:buNone/>
                      </a:pPr>
                      <a:r>
                        <a:rPr i="1" lang="en-US" sz="1100" u="sng">
                          <a:solidFill>
                            <a:schemeClr val="hlink"/>
                          </a:solidFill>
                          <a:hlinkClick r:id="rId4"/>
                        </a:rPr>
                        <a:t>qhamanuel@tip.edu.ph</a:t>
                      </a:r>
                      <a:endParaRPr i="1" sz="1100">
                        <a:solidFill>
                          <a:srgbClr val="7F7F7F"/>
                        </a:solidFill>
                      </a:endParaRPr>
                    </a:p>
                    <a:p>
                      <a:pPr indent="0" lvl="0" marL="0" marR="0" rtl="0" algn="ctr">
                        <a:spcBef>
                          <a:spcPts val="0"/>
                        </a:spcBef>
                        <a:spcAft>
                          <a:spcPts val="0"/>
                        </a:spcAft>
                        <a:buNone/>
                      </a:pPr>
                      <a:r>
                        <a:rPr i="1" lang="en-US" sz="1100" u="sng">
                          <a:solidFill>
                            <a:schemeClr val="hlink"/>
                          </a:solidFill>
                          <a:hlinkClick r:id="rId5"/>
                        </a:rPr>
                        <a:t>qmjkegob@tip.edu.ph</a:t>
                      </a:r>
                      <a:endParaRPr i="1" sz="1100">
                        <a:solidFill>
                          <a:srgbClr val="7F7F7F"/>
                        </a:solidFill>
                      </a:endParaRPr>
                    </a:p>
                  </a:txBody>
                  <a:tcPr marT="9525" marB="0" marR="9525" marL="9525" anchor="ctr"/>
                </a:tc>
              </a:tr>
              <a:tr h="290075">
                <a:tc>
                  <a:txBody>
                    <a:bodyPr/>
                    <a:lstStyle/>
                    <a:p>
                      <a:pPr indent="0" lvl="0" marL="0" marR="0" rtl="0" algn="ctr">
                        <a:spcBef>
                          <a:spcPts val="0"/>
                        </a:spcBef>
                        <a:spcAft>
                          <a:spcPts val="0"/>
                        </a:spcAft>
                        <a:buNone/>
                      </a:pPr>
                      <a:r>
                        <a:rPr lang="en-US" sz="1200" u="none" cap="none" strike="noStrike">
                          <a:solidFill>
                            <a:srgbClr val="575756"/>
                          </a:solidFill>
                          <a:latin typeface="Calibri"/>
                          <a:ea typeface="Calibri"/>
                          <a:cs typeface="Calibri"/>
                          <a:sym typeface="Calibri"/>
                        </a:rPr>
                        <a:t>Technical Field</a:t>
                      </a:r>
                      <a:endParaRPr/>
                    </a:p>
                  </a:txBody>
                  <a:tcPr marT="9525" marB="0" marR="9525" marL="9525" anchor="ctr"/>
                </a:tc>
                <a:tc>
                  <a:txBody>
                    <a:bodyPr/>
                    <a:lstStyle/>
                    <a:p>
                      <a:pPr indent="0" lvl="0" marL="0" marR="0" rtl="0" algn="ctr">
                        <a:spcBef>
                          <a:spcPts val="0"/>
                        </a:spcBef>
                        <a:spcAft>
                          <a:spcPts val="0"/>
                        </a:spcAft>
                        <a:buNone/>
                      </a:pPr>
                      <a:r>
                        <a:rPr i="1" lang="en-US" sz="1100">
                          <a:solidFill>
                            <a:srgbClr val="7F7F7F"/>
                          </a:solidFill>
                        </a:rPr>
                        <a:t>AI, Machine Learning, Natural Language Processing, Cybersecurity</a:t>
                      </a:r>
                      <a:endParaRPr b="0" i="1" sz="1100" u="none" cap="none" strike="noStrike">
                        <a:solidFill>
                          <a:srgbClr val="7F7F7F"/>
                        </a:solidFill>
                        <a:latin typeface="Calibri"/>
                        <a:ea typeface="Calibri"/>
                        <a:cs typeface="Calibri"/>
                        <a:sym typeface="Calibri"/>
                      </a:endParaRPr>
                    </a:p>
                  </a:txBody>
                  <a:tcPr marT="9525" marB="0" marR="9525" marL="9525" anchor="ctr"/>
                </a:tc>
              </a:tr>
              <a:tr h="290075">
                <a:tc>
                  <a:txBody>
                    <a:bodyPr/>
                    <a:lstStyle/>
                    <a:p>
                      <a:pPr indent="0" lvl="0" marL="0" marR="0" rtl="0" algn="ctr">
                        <a:spcBef>
                          <a:spcPts val="0"/>
                        </a:spcBef>
                        <a:spcAft>
                          <a:spcPts val="0"/>
                        </a:spcAft>
                        <a:buNone/>
                      </a:pPr>
                      <a:r>
                        <a:rPr lang="en-US" sz="1200" u="none" cap="none" strike="noStrike">
                          <a:solidFill>
                            <a:srgbClr val="575756"/>
                          </a:solidFill>
                          <a:latin typeface="Calibri"/>
                          <a:ea typeface="Calibri"/>
                          <a:cs typeface="Calibri"/>
                          <a:sym typeface="Calibri"/>
                        </a:rPr>
                        <a:t>Technologies</a:t>
                      </a:r>
                      <a:endParaRPr/>
                    </a:p>
                  </a:txBody>
                  <a:tcPr marT="9525" marB="0" marR="9525" marL="9525" anchor="ctr"/>
                </a:tc>
                <a:tc>
                  <a:txBody>
                    <a:bodyPr/>
                    <a:lstStyle/>
                    <a:p>
                      <a:pPr indent="0" lvl="0" marL="0" marR="0" rtl="0" algn="ctr">
                        <a:spcBef>
                          <a:spcPts val="0"/>
                        </a:spcBef>
                        <a:spcAft>
                          <a:spcPts val="0"/>
                        </a:spcAft>
                        <a:buNone/>
                      </a:pPr>
                      <a:r>
                        <a:rPr i="1" lang="en-US" sz="1100">
                          <a:solidFill>
                            <a:srgbClr val="7F7F7F"/>
                          </a:solidFill>
                        </a:rPr>
                        <a:t>BERT Transformer Models, PyTorch, Flask REST API, Flutter, Firebase, Huawei Cloud OBS (planned), Google Colab</a:t>
                      </a:r>
                      <a:endParaRPr b="0" i="1" sz="1100" u="none" cap="none" strike="noStrike">
                        <a:solidFill>
                          <a:srgbClr val="7F7F7F"/>
                        </a:solidFill>
                        <a:latin typeface="Calibri"/>
                        <a:ea typeface="Calibri"/>
                        <a:cs typeface="Calibri"/>
                        <a:sym typeface="Calibri"/>
                      </a:endParaRPr>
                    </a:p>
                  </a:txBody>
                  <a:tcPr marT="9525" marB="0" marR="9525" marL="9525" anchor="ctr"/>
                </a:tc>
              </a:tr>
              <a:tr h="290075">
                <a:tc>
                  <a:txBody>
                    <a:bodyPr/>
                    <a:lstStyle/>
                    <a:p>
                      <a:pPr indent="0" lvl="0" marL="0" marR="0" rtl="0" algn="ctr">
                        <a:spcBef>
                          <a:spcPts val="0"/>
                        </a:spcBef>
                        <a:spcAft>
                          <a:spcPts val="0"/>
                        </a:spcAft>
                        <a:buNone/>
                      </a:pPr>
                      <a:r>
                        <a:rPr lang="en-US" sz="1200" u="none" cap="none" strike="noStrike">
                          <a:solidFill>
                            <a:srgbClr val="575756"/>
                          </a:solidFill>
                          <a:latin typeface="Calibri"/>
                          <a:ea typeface="Calibri"/>
                          <a:cs typeface="Calibri"/>
                          <a:sym typeface="Calibri"/>
                        </a:rPr>
                        <a:t>Keywords</a:t>
                      </a:r>
                      <a:endParaRPr/>
                    </a:p>
                  </a:txBody>
                  <a:tcPr marT="9525" marB="0" marR="9525" marL="9525" anchor="ctr"/>
                </a:tc>
                <a:tc>
                  <a:txBody>
                    <a:bodyPr/>
                    <a:lstStyle/>
                    <a:p>
                      <a:pPr indent="0" lvl="0" marL="0" marR="0" rtl="0" algn="ctr">
                        <a:spcBef>
                          <a:spcPts val="0"/>
                        </a:spcBef>
                        <a:spcAft>
                          <a:spcPts val="0"/>
                        </a:spcAft>
                        <a:buNone/>
                      </a:pPr>
                      <a:r>
                        <a:rPr i="1" lang="en-US" sz="1100">
                          <a:solidFill>
                            <a:srgbClr val="7F7F7F"/>
                          </a:solidFill>
                        </a:rPr>
                        <a:t>Fraud Detection, AI, Smishing, Vishing, NLP, Mobile Security, Transformer Models, Communication Safety</a:t>
                      </a:r>
                      <a:endParaRPr b="0" i="1" sz="1100" u="none" cap="none" strike="noStrike">
                        <a:solidFill>
                          <a:srgbClr val="7F7F7F"/>
                        </a:solidFill>
                        <a:latin typeface="Calibri"/>
                        <a:ea typeface="Calibri"/>
                        <a:cs typeface="Calibri"/>
                        <a:sym typeface="Calibri"/>
                      </a:endParaRPr>
                    </a:p>
                  </a:txBody>
                  <a:tcPr marT="9525" marB="0" marR="9525" marL="9525" anchor="ctr"/>
                </a:tc>
              </a:tr>
              <a:tr h="290075">
                <a:tc>
                  <a:txBody>
                    <a:bodyPr/>
                    <a:lstStyle/>
                    <a:p>
                      <a:pPr indent="0" lvl="0" marL="0" marR="0" rtl="0" algn="ctr">
                        <a:spcBef>
                          <a:spcPts val="0"/>
                        </a:spcBef>
                        <a:spcAft>
                          <a:spcPts val="0"/>
                        </a:spcAft>
                        <a:buNone/>
                      </a:pPr>
                      <a:r>
                        <a:rPr lang="en-US" sz="1200" u="none" cap="none" strike="noStrike">
                          <a:solidFill>
                            <a:srgbClr val="575756"/>
                          </a:solidFill>
                          <a:latin typeface="Calibri"/>
                          <a:ea typeface="Calibri"/>
                          <a:cs typeface="Calibri"/>
                          <a:sym typeface="Calibri"/>
                        </a:rPr>
                        <a:t>Applicable Fields</a:t>
                      </a:r>
                      <a:endParaRPr/>
                    </a:p>
                  </a:txBody>
                  <a:tcPr marT="9525" marB="0" marR="9525" marL="9525" anchor="ctr"/>
                </a:tc>
                <a:tc>
                  <a:txBody>
                    <a:bodyPr/>
                    <a:lstStyle/>
                    <a:p>
                      <a:pPr indent="0" lvl="0" marL="0" marR="0" rtl="0" algn="ctr">
                        <a:spcBef>
                          <a:spcPts val="0"/>
                        </a:spcBef>
                        <a:spcAft>
                          <a:spcPts val="0"/>
                        </a:spcAft>
                        <a:buNone/>
                      </a:pPr>
                      <a:r>
                        <a:rPr i="1" lang="en-US" sz="1100">
                          <a:solidFill>
                            <a:srgbClr val="7F7F7F"/>
                          </a:solidFill>
                        </a:rPr>
                        <a:t>Cybersecurity, Mobile Security, Financial Protection, Digital Safety, Public Safety</a:t>
                      </a:r>
                      <a:endParaRPr b="0" i="1" sz="1100" u="none" cap="none" strike="noStrike">
                        <a:solidFill>
                          <a:srgbClr val="7F7F7F"/>
                        </a:solidFill>
                        <a:latin typeface="Calibri"/>
                        <a:ea typeface="Calibri"/>
                        <a:cs typeface="Calibri"/>
                        <a:sym typeface="Calibri"/>
                      </a:endParaRPr>
                    </a:p>
                  </a:txBody>
                  <a:tcPr marT="9525" marB="0" marR="9525" marL="9525" anchor="ctr"/>
                </a:tc>
              </a:tr>
              <a:tr h="2979900">
                <a:tc>
                  <a:txBody>
                    <a:bodyPr/>
                    <a:lstStyle/>
                    <a:p>
                      <a:pPr indent="0" lvl="0" marL="0" marR="0" rtl="0" algn="ctr">
                        <a:spcBef>
                          <a:spcPts val="0"/>
                        </a:spcBef>
                        <a:spcAft>
                          <a:spcPts val="0"/>
                        </a:spcAft>
                        <a:buNone/>
                      </a:pPr>
                      <a:r>
                        <a:rPr lang="en-US" sz="1200" u="none" cap="none" strike="noStrike">
                          <a:solidFill>
                            <a:srgbClr val="575756"/>
                          </a:solidFill>
                          <a:latin typeface="Calibri"/>
                          <a:ea typeface="Calibri"/>
                          <a:cs typeface="Calibri"/>
                          <a:sym typeface="Calibri"/>
                        </a:rPr>
                        <a:t>Description (in 200 words)</a:t>
                      </a:r>
                      <a:endParaRPr/>
                    </a:p>
                  </a:txBody>
                  <a:tcPr marT="9525" marB="0" marR="9525" marL="9525" anchor="ctr"/>
                </a:tc>
                <a:tc>
                  <a:txBody>
                    <a:bodyPr/>
                    <a:lstStyle/>
                    <a:p>
                      <a:pPr indent="0" lvl="0" marL="114300" marR="134848" rtl="0" algn="just">
                        <a:spcBef>
                          <a:spcPts val="0"/>
                        </a:spcBef>
                        <a:spcAft>
                          <a:spcPts val="0"/>
                        </a:spcAft>
                        <a:buNone/>
                      </a:pPr>
                      <a:r>
                        <a:rPr i="1" lang="en-US" sz="1100">
                          <a:solidFill>
                            <a:srgbClr val="7F7F7F"/>
                          </a:solidFill>
                        </a:rPr>
                        <a:t>Communication fraud through smishing (SMS phishing) and vishing (voice phishing) has emerged as a critical cybersecurity threat, with global losses exceeding USD 2.9 billion in 2023. In terms of our local considerations, the Philippines itself faces acute challenges due to high mobile penetration (170M subscriptions) and SMS-centric communication patterns (2.4B daily messages). </a:t>
                      </a:r>
                      <a:endParaRPr i="1" sz="1100">
                        <a:solidFill>
                          <a:srgbClr val="7F7F7F"/>
                        </a:solidFill>
                      </a:endParaRPr>
                    </a:p>
                    <a:p>
                      <a:pPr indent="0" lvl="0" marL="114300" marR="134848" rtl="0" algn="just">
                        <a:spcBef>
                          <a:spcPts val="0"/>
                        </a:spcBef>
                        <a:spcAft>
                          <a:spcPts val="0"/>
                        </a:spcAft>
                        <a:buNone/>
                      </a:pPr>
                      <a:r>
                        <a:t/>
                      </a:r>
                      <a:endParaRPr b="1" i="1" sz="1100">
                        <a:solidFill>
                          <a:srgbClr val="7F7F7F"/>
                        </a:solidFill>
                      </a:endParaRPr>
                    </a:p>
                    <a:p>
                      <a:pPr indent="0" lvl="0" marL="114300" marR="134848" rtl="0" algn="just">
                        <a:spcBef>
                          <a:spcPts val="0"/>
                        </a:spcBef>
                        <a:spcAft>
                          <a:spcPts val="0"/>
                        </a:spcAft>
                        <a:buNone/>
                      </a:pPr>
                      <a:r>
                        <a:rPr b="1" i="1" lang="en-US" sz="1100">
                          <a:solidFill>
                            <a:srgbClr val="7F7F7F"/>
                          </a:solidFill>
                        </a:rPr>
                        <a:t>SecureCom</a:t>
                      </a:r>
                      <a:r>
                        <a:rPr i="1" lang="en-US" sz="1100">
                          <a:solidFill>
                            <a:srgbClr val="7F7F7F"/>
                          </a:solidFill>
                        </a:rPr>
                        <a:t> addresses this through AI-driven fraud detection using advanced natural language processing. We have developed core technical components including comprehensive data preprocessing pipelines, dual transformer models (BERT-tiny architecture) specialized for SMS and voice call detection, and Flask-based REST API infrastructure.</a:t>
                      </a:r>
                      <a:endParaRPr i="1" sz="1100">
                        <a:solidFill>
                          <a:srgbClr val="7F7F7F"/>
                        </a:solidFill>
                      </a:endParaRPr>
                    </a:p>
                    <a:p>
                      <a:pPr indent="0" lvl="0" marL="114300" marR="134848" rtl="0" algn="just">
                        <a:spcBef>
                          <a:spcPts val="0"/>
                        </a:spcBef>
                        <a:spcAft>
                          <a:spcPts val="0"/>
                        </a:spcAft>
                        <a:buNone/>
                      </a:pPr>
                      <a:r>
                        <a:t/>
                      </a:r>
                      <a:endParaRPr i="1" sz="1100">
                        <a:solidFill>
                          <a:srgbClr val="7F7F7F"/>
                        </a:solidFill>
                      </a:endParaRPr>
                    </a:p>
                    <a:p>
                      <a:pPr indent="0" lvl="0" marL="114300" marR="134848" rtl="0" algn="just">
                        <a:spcBef>
                          <a:spcPts val="0"/>
                        </a:spcBef>
                        <a:spcAft>
                          <a:spcPts val="0"/>
                        </a:spcAft>
                        <a:buNone/>
                      </a:pPr>
                      <a:r>
                        <a:rPr i="1" lang="en-US" sz="1100">
                          <a:solidFill>
                            <a:srgbClr val="7F7F7F"/>
                          </a:solidFill>
                        </a:rPr>
                        <a:t>Our working prototype demonstrates proof-of-concept functionality with semantic analysis that goes beyond traditional keyword-based filtering. The dual-model strategy captures channel-specific fraud patterns, while the lightweight architecture enables fast inference suitable for real-time mobile deployment.</a:t>
                      </a:r>
                      <a:endParaRPr i="1" sz="1100">
                        <a:solidFill>
                          <a:srgbClr val="7F7F7F"/>
                        </a:solidFill>
                      </a:endParaRPr>
                    </a:p>
                    <a:p>
                      <a:pPr indent="0" lvl="0" marL="114300" marR="134848" rtl="0" algn="just">
                        <a:spcBef>
                          <a:spcPts val="0"/>
                        </a:spcBef>
                        <a:spcAft>
                          <a:spcPts val="0"/>
                        </a:spcAft>
                        <a:buNone/>
                      </a:pPr>
                      <a:r>
                        <a:t/>
                      </a:r>
                      <a:endParaRPr i="1" sz="1100">
                        <a:solidFill>
                          <a:srgbClr val="7F7F7F"/>
                        </a:solidFill>
                      </a:endParaRPr>
                    </a:p>
                    <a:p>
                      <a:pPr indent="0" lvl="0" marL="114300" marR="134848" rtl="0" algn="just">
                        <a:spcBef>
                          <a:spcPts val="0"/>
                        </a:spcBef>
                        <a:spcAft>
                          <a:spcPts val="0"/>
                        </a:spcAft>
                        <a:buNone/>
                      </a:pPr>
                      <a:r>
                        <a:rPr i="1" lang="en-US" sz="1100">
                          <a:solidFill>
                            <a:srgbClr val="7F7F7F"/>
                          </a:solidFill>
                        </a:rPr>
                        <a:t>The system is architected for Huawei Cloud OBS integration for scalable model distribution in production. SecureCom targets vulnerable populations in high-risk regions, supporting UN SDG 8, 9, and 16 by enabling safe digital adoption and strengthening trust in telecommunications infrastructure.</a:t>
                      </a:r>
                      <a:endParaRPr b="0" i="1" sz="1100" u="none" cap="none" strike="noStrike">
                        <a:solidFill>
                          <a:srgbClr val="7F7F7F"/>
                        </a:solidFill>
                        <a:latin typeface="Calibri"/>
                        <a:ea typeface="Calibri"/>
                        <a:cs typeface="Calibri"/>
                        <a:sym typeface="Calibri"/>
                      </a:endParaRPr>
                    </a:p>
                  </a:txBody>
                  <a:tcPr marT="9525" marB="0" marR="9525" marL="9525" anchor="ctr"/>
                </a:tc>
              </a:tr>
            </a:tbl>
          </a:graphicData>
        </a:graphic>
      </p:graphicFrame>
      <p:sp>
        <p:nvSpPr>
          <p:cNvPr id="38" name="Google Shape;38;p6"/>
          <p:cNvSpPr txBox="1"/>
          <p:nvPr/>
        </p:nvSpPr>
        <p:spPr>
          <a:xfrm>
            <a:off x="806883" y="1037202"/>
            <a:ext cx="2045373" cy="682541"/>
          </a:xfrm>
          <a:prstGeom prst="rect">
            <a:avLst/>
          </a:prstGeom>
          <a:noFill/>
          <a:ln>
            <a:noFill/>
          </a:ln>
        </p:spPr>
        <p:txBody>
          <a:bodyPr anchorCtr="0" anchor="t" bIns="45700" lIns="91425" spcFirstLastPara="1" rIns="91425" wrap="square" tIns="45700">
            <a:noAutofit/>
          </a:bodyPr>
          <a:lstStyle/>
          <a:p>
            <a:pPr indent="0" lvl="0" marL="0" marR="0" rtl="0" algn="ctr">
              <a:lnSpc>
                <a:spcPct val="122901"/>
              </a:lnSpc>
              <a:spcBef>
                <a:spcPts val="0"/>
              </a:spcBef>
              <a:spcAft>
                <a:spcPts val="0"/>
              </a:spcAft>
              <a:buClr>
                <a:srgbClr val="990000"/>
              </a:buClr>
              <a:buSzPts val="2799"/>
              <a:buFont typeface="Arial"/>
              <a:buNone/>
            </a:pPr>
            <a:r>
              <a:rPr b="1" i="0" lang="en-US" sz="2799" u="none" cap="none" strike="noStrike">
                <a:solidFill>
                  <a:srgbClr val="990000"/>
                </a:solidFill>
                <a:latin typeface="Arial"/>
                <a:ea typeface="Arial"/>
                <a:cs typeface="Arial"/>
                <a:sym typeface="Arial"/>
              </a:rPr>
              <a:t>Overview</a:t>
            </a:r>
            <a:endParaRPr b="1" i="0" sz="2799" u="none" cap="none" strike="noStrike">
              <a:solidFill>
                <a:srgbClr val="990000"/>
              </a:solidFill>
              <a:latin typeface="Arial"/>
              <a:ea typeface="Arial"/>
              <a:cs typeface="Arial"/>
              <a:sym typeface="Arial"/>
            </a:endParaRPr>
          </a:p>
        </p:txBody>
      </p:sp>
      <p:pic>
        <p:nvPicPr>
          <p:cNvPr id="39" name="Google Shape;39;p6"/>
          <p:cNvPicPr preferRelativeResize="0"/>
          <p:nvPr/>
        </p:nvPicPr>
        <p:blipFill rotWithShape="1">
          <a:blip r:embed="rId6">
            <a:alphaModFix/>
          </a:blip>
          <a:srcRect b="0" l="0" r="0" t="0"/>
          <a:stretch/>
        </p:blipFill>
        <p:spPr>
          <a:xfrm>
            <a:off x="112691" y="3027861"/>
            <a:ext cx="2857500" cy="2857500"/>
          </a:xfrm>
          <a:prstGeom prst="rect">
            <a:avLst/>
          </a:prstGeom>
          <a:noFill/>
          <a:ln>
            <a:noFill/>
          </a:ln>
        </p:spPr>
      </p:pic>
      <p:sp>
        <p:nvSpPr>
          <p:cNvPr id="40" name="Google Shape;40;p6"/>
          <p:cNvSpPr txBox="1"/>
          <p:nvPr/>
        </p:nvSpPr>
        <p:spPr>
          <a:xfrm>
            <a:off x="3279061" y="383524"/>
            <a:ext cx="233910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575756"/>
                </a:solidFill>
                <a:latin typeface="Calibri"/>
                <a:ea typeface="Calibri"/>
                <a:cs typeface="Calibri"/>
                <a:sym typeface="Calibri"/>
              </a:rPr>
              <a:t>Project Overview</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grpSp>
        <p:nvGrpSpPr>
          <p:cNvPr id="46" name="Google Shape;46;p7"/>
          <p:cNvGrpSpPr/>
          <p:nvPr/>
        </p:nvGrpSpPr>
        <p:grpSpPr>
          <a:xfrm>
            <a:off x="4306838" y="1323004"/>
            <a:ext cx="6911008" cy="543339"/>
            <a:chOff x="3432313" y="1034105"/>
            <a:chExt cx="6911008" cy="543339"/>
          </a:xfrm>
        </p:grpSpPr>
        <p:sp>
          <p:nvSpPr>
            <p:cNvPr id="47" name="Google Shape;47;p7"/>
            <p:cNvSpPr txBox="1"/>
            <p:nvPr/>
          </p:nvSpPr>
          <p:spPr>
            <a:xfrm>
              <a:off x="4200938" y="1053278"/>
              <a:ext cx="209826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575756"/>
                  </a:solidFill>
                  <a:latin typeface="Calibri"/>
                  <a:ea typeface="Calibri"/>
                  <a:cs typeface="Calibri"/>
                  <a:sym typeface="Calibri"/>
                </a:rPr>
                <a:t>Team Introduction</a:t>
              </a:r>
              <a:endParaRPr b="0" i="0" sz="2000" u="none" cap="none" strike="noStrike">
                <a:solidFill>
                  <a:srgbClr val="575756"/>
                </a:solidFill>
                <a:latin typeface="Calibri"/>
                <a:ea typeface="Calibri"/>
                <a:cs typeface="Calibri"/>
                <a:sym typeface="Calibri"/>
              </a:endParaRPr>
            </a:p>
          </p:txBody>
        </p:sp>
        <p:cxnSp>
          <p:nvCxnSpPr>
            <p:cNvPr id="48" name="Google Shape;48;p7"/>
            <p:cNvCxnSpPr/>
            <p:nvPr/>
          </p:nvCxnSpPr>
          <p:spPr>
            <a:xfrm>
              <a:off x="3703982" y="1570229"/>
              <a:ext cx="6639339" cy="0"/>
            </a:xfrm>
            <a:prstGeom prst="straightConnector1">
              <a:avLst/>
            </a:prstGeom>
            <a:noFill/>
            <a:ln cap="flat" cmpd="sng" w="9525">
              <a:solidFill>
                <a:srgbClr val="DEDEDE"/>
              </a:solidFill>
              <a:prstDash val="solid"/>
              <a:miter lim="800000"/>
              <a:headEnd len="sm" w="sm" type="none"/>
              <a:tailEnd len="sm" w="sm" type="none"/>
            </a:ln>
          </p:spPr>
        </p:cxnSp>
        <p:sp>
          <p:nvSpPr>
            <p:cNvPr id="49" name="Google Shape;49;p7"/>
            <p:cNvSpPr/>
            <p:nvPr/>
          </p:nvSpPr>
          <p:spPr>
            <a:xfrm>
              <a:off x="3432313" y="1034105"/>
              <a:ext cx="543339" cy="543339"/>
            </a:xfrm>
            <a:prstGeom prst="round2DiagRect">
              <a:avLst>
                <a:gd fmla="val 16667" name="adj1"/>
                <a:gd fmla="val 0" name="adj2"/>
              </a:avLst>
            </a:prstGeom>
            <a:solidFill>
              <a:srgbClr val="DEDE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lt1"/>
                  </a:solidFill>
                  <a:latin typeface="Arial"/>
                  <a:ea typeface="Arial"/>
                  <a:cs typeface="Arial"/>
                  <a:sym typeface="Arial"/>
                </a:rPr>
                <a:t>1</a:t>
              </a:r>
              <a:endParaRPr b="1" i="0" sz="2000" u="none" cap="none" strike="noStrike">
                <a:solidFill>
                  <a:schemeClr val="lt1"/>
                </a:solidFill>
                <a:latin typeface="Arial"/>
                <a:ea typeface="Arial"/>
                <a:cs typeface="Arial"/>
                <a:sym typeface="Arial"/>
              </a:endParaRPr>
            </a:p>
          </p:txBody>
        </p:sp>
      </p:grpSp>
      <p:sp>
        <p:nvSpPr>
          <p:cNvPr id="50" name="Google Shape;50;p7"/>
          <p:cNvSpPr txBox="1"/>
          <p:nvPr/>
        </p:nvSpPr>
        <p:spPr>
          <a:xfrm>
            <a:off x="1036887" y="332495"/>
            <a:ext cx="1800731" cy="495949"/>
          </a:xfrm>
          <a:prstGeom prst="rect">
            <a:avLst/>
          </a:prstGeom>
          <a:noFill/>
          <a:ln>
            <a:noFill/>
          </a:ln>
        </p:spPr>
        <p:txBody>
          <a:bodyPr anchorCtr="0" anchor="t" bIns="45700" lIns="91425" spcFirstLastPara="1" rIns="91425" wrap="square" tIns="45700">
            <a:noAutofit/>
          </a:bodyPr>
          <a:lstStyle/>
          <a:p>
            <a:pPr indent="0" lvl="0" marL="0" marR="0" rtl="0" algn="ctr">
              <a:lnSpc>
                <a:spcPct val="122901"/>
              </a:lnSpc>
              <a:spcBef>
                <a:spcPts val="0"/>
              </a:spcBef>
              <a:spcAft>
                <a:spcPts val="0"/>
              </a:spcAft>
              <a:buClr>
                <a:srgbClr val="990000"/>
              </a:buClr>
              <a:buSzPts val="2799"/>
              <a:buFont typeface="Arial"/>
              <a:buNone/>
            </a:pPr>
            <a:r>
              <a:rPr b="1" i="0" lang="en-US" sz="2799" u="none" cap="none" strike="noStrike">
                <a:solidFill>
                  <a:srgbClr val="990000"/>
                </a:solidFill>
                <a:latin typeface="Arial"/>
                <a:ea typeface="Arial"/>
                <a:cs typeface="Arial"/>
                <a:sym typeface="Arial"/>
              </a:rPr>
              <a:t>Contents</a:t>
            </a:r>
            <a:endParaRPr b="1" i="0" sz="2799" u="none" cap="none" strike="noStrike">
              <a:solidFill>
                <a:srgbClr val="990000"/>
              </a:solidFill>
              <a:latin typeface="Arial"/>
              <a:ea typeface="Arial"/>
              <a:cs typeface="Arial"/>
              <a:sym typeface="Arial"/>
            </a:endParaRPr>
          </a:p>
        </p:txBody>
      </p:sp>
      <p:grpSp>
        <p:nvGrpSpPr>
          <p:cNvPr id="51" name="Google Shape;51;p7"/>
          <p:cNvGrpSpPr/>
          <p:nvPr/>
        </p:nvGrpSpPr>
        <p:grpSpPr>
          <a:xfrm>
            <a:off x="4306838" y="1998816"/>
            <a:ext cx="6911008" cy="543339"/>
            <a:chOff x="3432313" y="1889316"/>
            <a:chExt cx="6911008" cy="543339"/>
          </a:xfrm>
        </p:grpSpPr>
        <p:cxnSp>
          <p:nvCxnSpPr>
            <p:cNvPr id="52" name="Google Shape;52;p7"/>
            <p:cNvCxnSpPr/>
            <p:nvPr/>
          </p:nvCxnSpPr>
          <p:spPr>
            <a:xfrm>
              <a:off x="3703982" y="2425440"/>
              <a:ext cx="6639339" cy="0"/>
            </a:xfrm>
            <a:prstGeom prst="straightConnector1">
              <a:avLst/>
            </a:prstGeom>
            <a:noFill/>
            <a:ln cap="flat" cmpd="sng" w="9525">
              <a:solidFill>
                <a:srgbClr val="DEDEDE"/>
              </a:solidFill>
              <a:prstDash val="solid"/>
              <a:miter lim="800000"/>
              <a:headEnd len="sm" w="sm" type="none"/>
              <a:tailEnd len="sm" w="sm" type="none"/>
            </a:ln>
          </p:spPr>
        </p:cxnSp>
        <p:sp>
          <p:nvSpPr>
            <p:cNvPr id="53" name="Google Shape;53;p7"/>
            <p:cNvSpPr/>
            <p:nvPr/>
          </p:nvSpPr>
          <p:spPr>
            <a:xfrm>
              <a:off x="3432313" y="1889316"/>
              <a:ext cx="543339" cy="543339"/>
            </a:xfrm>
            <a:prstGeom prst="round2DiagRect">
              <a:avLst>
                <a:gd fmla="val 16667" name="adj1"/>
                <a:gd fmla="val 0" name="adj2"/>
              </a:avLst>
            </a:prstGeom>
            <a:solidFill>
              <a:srgbClr val="DEDE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lt1"/>
                  </a:solidFill>
                  <a:latin typeface="Arial"/>
                  <a:ea typeface="Arial"/>
                  <a:cs typeface="Arial"/>
                  <a:sym typeface="Arial"/>
                </a:rPr>
                <a:t>2</a:t>
              </a:r>
              <a:endParaRPr b="1" i="0" sz="2000" u="none" cap="none" strike="noStrike">
                <a:solidFill>
                  <a:schemeClr val="lt1"/>
                </a:solidFill>
                <a:latin typeface="Arial"/>
                <a:ea typeface="Arial"/>
                <a:cs typeface="Arial"/>
                <a:sym typeface="Arial"/>
              </a:endParaRPr>
            </a:p>
          </p:txBody>
        </p:sp>
        <p:sp>
          <p:nvSpPr>
            <p:cNvPr id="54" name="Google Shape;54;p7"/>
            <p:cNvSpPr txBox="1"/>
            <p:nvPr/>
          </p:nvSpPr>
          <p:spPr>
            <a:xfrm>
              <a:off x="4200937" y="1927425"/>
              <a:ext cx="227722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575756"/>
                  </a:solidFill>
                  <a:latin typeface="Calibri"/>
                  <a:ea typeface="Calibri"/>
                  <a:cs typeface="Calibri"/>
                  <a:sym typeface="Calibri"/>
                </a:rPr>
                <a:t>Project Introduction</a:t>
              </a:r>
              <a:endParaRPr sz="2000">
                <a:solidFill>
                  <a:srgbClr val="575756"/>
                </a:solidFill>
                <a:latin typeface="Calibri"/>
                <a:ea typeface="Calibri"/>
                <a:cs typeface="Calibri"/>
                <a:sym typeface="Calibri"/>
              </a:endParaRPr>
            </a:p>
          </p:txBody>
        </p:sp>
      </p:grpSp>
      <p:grpSp>
        <p:nvGrpSpPr>
          <p:cNvPr id="55" name="Google Shape;55;p7"/>
          <p:cNvGrpSpPr/>
          <p:nvPr/>
        </p:nvGrpSpPr>
        <p:grpSpPr>
          <a:xfrm>
            <a:off x="4306838" y="2674628"/>
            <a:ext cx="6911008" cy="543339"/>
            <a:chOff x="3432313" y="2750708"/>
            <a:chExt cx="6911008" cy="543339"/>
          </a:xfrm>
        </p:grpSpPr>
        <p:cxnSp>
          <p:nvCxnSpPr>
            <p:cNvPr id="56" name="Google Shape;56;p7"/>
            <p:cNvCxnSpPr/>
            <p:nvPr/>
          </p:nvCxnSpPr>
          <p:spPr>
            <a:xfrm>
              <a:off x="3703982" y="3286832"/>
              <a:ext cx="6639339" cy="0"/>
            </a:xfrm>
            <a:prstGeom prst="straightConnector1">
              <a:avLst/>
            </a:prstGeom>
            <a:noFill/>
            <a:ln cap="flat" cmpd="sng" w="9525">
              <a:solidFill>
                <a:srgbClr val="DEDEDE"/>
              </a:solidFill>
              <a:prstDash val="solid"/>
              <a:miter lim="800000"/>
              <a:headEnd len="sm" w="sm" type="none"/>
              <a:tailEnd len="sm" w="sm" type="none"/>
            </a:ln>
          </p:spPr>
        </p:cxnSp>
        <p:sp>
          <p:nvSpPr>
            <p:cNvPr id="57" name="Google Shape;57;p7"/>
            <p:cNvSpPr/>
            <p:nvPr/>
          </p:nvSpPr>
          <p:spPr>
            <a:xfrm>
              <a:off x="3432313" y="2750708"/>
              <a:ext cx="543339" cy="543339"/>
            </a:xfrm>
            <a:prstGeom prst="round2DiagRect">
              <a:avLst>
                <a:gd fmla="val 16667" name="adj1"/>
                <a:gd fmla="val 0" name="adj2"/>
              </a:avLst>
            </a:prstGeom>
            <a:solidFill>
              <a:srgbClr val="DEDE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u="none">
                  <a:solidFill>
                    <a:schemeClr val="lt1"/>
                  </a:solidFill>
                  <a:latin typeface="Arial"/>
                  <a:ea typeface="Arial"/>
                  <a:cs typeface="Arial"/>
                  <a:sym typeface="Arial"/>
                </a:rPr>
                <a:t>3</a:t>
              </a:r>
              <a:endParaRPr b="1" sz="2000">
                <a:solidFill>
                  <a:schemeClr val="lt1"/>
                </a:solidFill>
                <a:latin typeface="Arial"/>
                <a:ea typeface="Arial"/>
                <a:cs typeface="Arial"/>
                <a:sym typeface="Arial"/>
              </a:endParaRPr>
            </a:p>
          </p:txBody>
        </p:sp>
        <p:sp>
          <p:nvSpPr>
            <p:cNvPr id="58" name="Google Shape;58;p7"/>
            <p:cNvSpPr txBox="1"/>
            <p:nvPr/>
          </p:nvSpPr>
          <p:spPr>
            <a:xfrm>
              <a:off x="4200938" y="2787938"/>
              <a:ext cx="249504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u="none">
                  <a:solidFill>
                    <a:srgbClr val="575756"/>
                  </a:solidFill>
                  <a:latin typeface="Calibri"/>
                  <a:ea typeface="Calibri"/>
                  <a:cs typeface="Calibri"/>
                  <a:sym typeface="Calibri"/>
                </a:rPr>
                <a:t>Technical Architecture</a:t>
              </a:r>
              <a:endParaRPr sz="2000">
                <a:solidFill>
                  <a:srgbClr val="575756"/>
                </a:solidFill>
                <a:latin typeface="Calibri"/>
                <a:ea typeface="Calibri"/>
                <a:cs typeface="Calibri"/>
                <a:sym typeface="Calibri"/>
              </a:endParaRPr>
            </a:p>
          </p:txBody>
        </p:sp>
      </p:grpSp>
      <p:grpSp>
        <p:nvGrpSpPr>
          <p:cNvPr id="59" name="Google Shape;59;p7"/>
          <p:cNvGrpSpPr/>
          <p:nvPr/>
        </p:nvGrpSpPr>
        <p:grpSpPr>
          <a:xfrm>
            <a:off x="4306838" y="3350440"/>
            <a:ext cx="6911008" cy="543339"/>
            <a:chOff x="3432313" y="3662362"/>
            <a:chExt cx="6911008" cy="543339"/>
          </a:xfrm>
        </p:grpSpPr>
        <p:cxnSp>
          <p:nvCxnSpPr>
            <p:cNvPr id="60" name="Google Shape;60;p7"/>
            <p:cNvCxnSpPr/>
            <p:nvPr/>
          </p:nvCxnSpPr>
          <p:spPr>
            <a:xfrm>
              <a:off x="3703982" y="4198486"/>
              <a:ext cx="6639339" cy="0"/>
            </a:xfrm>
            <a:prstGeom prst="straightConnector1">
              <a:avLst/>
            </a:prstGeom>
            <a:noFill/>
            <a:ln cap="flat" cmpd="sng" w="9525">
              <a:solidFill>
                <a:srgbClr val="DEDEDE"/>
              </a:solidFill>
              <a:prstDash val="solid"/>
              <a:miter lim="800000"/>
              <a:headEnd len="sm" w="sm" type="none"/>
              <a:tailEnd len="sm" w="sm" type="none"/>
            </a:ln>
          </p:spPr>
        </p:cxnSp>
        <p:sp>
          <p:nvSpPr>
            <p:cNvPr id="61" name="Google Shape;61;p7"/>
            <p:cNvSpPr/>
            <p:nvPr/>
          </p:nvSpPr>
          <p:spPr>
            <a:xfrm>
              <a:off x="3432313" y="3662362"/>
              <a:ext cx="543339" cy="543339"/>
            </a:xfrm>
            <a:prstGeom prst="round2DiagRect">
              <a:avLst>
                <a:gd fmla="val 16667" name="adj1"/>
                <a:gd fmla="val 0" name="adj2"/>
              </a:avLst>
            </a:prstGeom>
            <a:solidFill>
              <a:srgbClr val="DEDE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u="none">
                  <a:solidFill>
                    <a:schemeClr val="lt1"/>
                  </a:solidFill>
                  <a:latin typeface="Arial"/>
                  <a:ea typeface="Arial"/>
                  <a:cs typeface="Arial"/>
                  <a:sym typeface="Arial"/>
                </a:rPr>
                <a:t>4</a:t>
              </a:r>
              <a:endParaRPr b="1" sz="2000">
                <a:solidFill>
                  <a:schemeClr val="lt1"/>
                </a:solidFill>
                <a:latin typeface="Arial"/>
                <a:ea typeface="Arial"/>
                <a:cs typeface="Arial"/>
                <a:sym typeface="Arial"/>
              </a:endParaRPr>
            </a:p>
          </p:txBody>
        </p:sp>
        <p:sp>
          <p:nvSpPr>
            <p:cNvPr id="62" name="Google Shape;62;p7"/>
            <p:cNvSpPr txBox="1"/>
            <p:nvPr/>
          </p:nvSpPr>
          <p:spPr>
            <a:xfrm>
              <a:off x="4200938" y="3703198"/>
              <a:ext cx="108561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u="none">
                  <a:solidFill>
                    <a:srgbClr val="575756"/>
                  </a:solidFill>
                  <a:latin typeface="Calibri"/>
                  <a:ea typeface="Calibri"/>
                  <a:cs typeface="Calibri"/>
                  <a:sym typeface="Calibri"/>
                </a:rPr>
                <a:t>Features</a:t>
              </a:r>
              <a:endParaRPr sz="2000">
                <a:solidFill>
                  <a:srgbClr val="575756"/>
                </a:solidFill>
                <a:latin typeface="Calibri"/>
                <a:ea typeface="Calibri"/>
                <a:cs typeface="Calibri"/>
                <a:sym typeface="Calibri"/>
              </a:endParaRPr>
            </a:p>
          </p:txBody>
        </p:sp>
      </p:grpSp>
      <p:grpSp>
        <p:nvGrpSpPr>
          <p:cNvPr id="63" name="Google Shape;63;p7"/>
          <p:cNvGrpSpPr/>
          <p:nvPr/>
        </p:nvGrpSpPr>
        <p:grpSpPr>
          <a:xfrm>
            <a:off x="4306838" y="4026252"/>
            <a:ext cx="6911008" cy="543339"/>
            <a:chOff x="3432313" y="4574015"/>
            <a:chExt cx="6911008" cy="543339"/>
          </a:xfrm>
        </p:grpSpPr>
        <p:cxnSp>
          <p:nvCxnSpPr>
            <p:cNvPr id="64" name="Google Shape;64;p7"/>
            <p:cNvCxnSpPr/>
            <p:nvPr/>
          </p:nvCxnSpPr>
          <p:spPr>
            <a:xfrm>
              <a:off x="3703982" y="5110139"/>
              <a:ext cx="6639339" cy="0"/>
            </a:xfrm>
            <a:prstGeom prst="straightConnector1">
              <a:avLst/>
            </a:prstGeom>
            <a:noFill/>
            <a:ln cap="flat" cmpd="sng" w="9525">
              <a:solidFill>
                <a:srgbClr val="DEDEDE"/>
              </a:solidFill>
              <a:prstDash val="solid"/>
              <a:miter lim="800000"/>
              <a:headEnd len="sm" w="sm" type="none"/>
              <a:tailEnd len="sm" w="sm" type="none"/>
            </a:ln>
          </p:spPr>
        </p:cxnSp>
        <p:sp>
          <p:nvSpPr>
            <p:cNvPr id="65" name="Google Shape;65;p7"/>
            <p:cNvSpPr/>
            <p:nvPr/>
          </p:nvSpPr>
          <p:spPr>
            <a:xfrm>
              <a:off x="3432313" y="4574015"/>
              <a:ext cx="543339" cy="543339"/>
            </a:xfrm>
            <a:prstGeom prst="round2DiagRect">
              <a:avLst>
                <a:gd fmla="val 16667" name="adj1"/>
                <a:gd fmla="val 0" name="adj2"/>
              </a:avLst>
            </a:prstGeom>
            <a:solidFill>
              <a:srgbClr val="DEDE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u="none">
                  <a:solidFill>
                    <a:schemeClr val="lt1"/>
                  </a:solidFill>
                  <a:latin typeface="Arial"/>
                  <a:ea typeface="Arial"/>
                  <a:cs typeface="Arial"/>
                  <a:sym typeface="Arial"/>
                </a:rPr>
                <a:t>5</a:t>
              </a:r>
              <a:endParaRPr b="1" sz="2000">
                <a:solidFill>
                  <a:schemeClr val="lt1"/>
                </a:solidFill>
                <a:latin typeface="Arial"/>
                <a:ea typeface="Arial"/>
                <a:cs typeface="Arial"/>
                <a:sym typeface="Arial"/>
              </a:endParaRPr>
            </a:p>
          </p:txBody>
        </p:sp>
        <p:sp>
          <p:nvSpPr>
            <p:cNvPr id="66" name="Google Shape;66;p7"/>
            <p:cNvSpPr txBox="1"/>
            <p:nvPr/>
          </p:nvSpPr>
          <p:spPr>
            <a:xfrm>
              <a:off x="4200938" y="4614851"/>
              <a:ext cx="14004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u="none">
                  <a:solidFill>
                    <a:srgbClr val="575756"/>
                  </a:solidFill>
                  <a:latin typeface="Calibri"/>
                  <a:ea typeface="Calibri"/>
                  <a:cs typeface="Calibri"/>
                  <a:sym typeface="Calibri"/>
                </a:rPr>
                <a:t>Innovations</a:t>
              </a:r>
              <a:endParaRPr sz="2000">
                <a:solidFill>
                  <a:srgbClr val="575756"/>
                </a:solidFill>
                <a:latin typeface="Calibri"/>
                <a:ea typeface="Calibri"/>
                <a:cs typeface="Calibri"/>
                <a:sym typeface="Calibri"/>
              </a:endParaRPr>
            </a:p>
          </p:txBody>
        </p:sp>
      </p:grpSp>
      <p:grpSp>
        <p:nvGrpSpPr>
          <p:cNvPr id="67" name="Google Shape;67;p7"/>
          <p:cNvGrpSpPr/>
          <p:nvPr/>
        </p:nvGrpSpPr>
        <p:grpSpPr>
          <a:xfrm>
            <a:off x="4306838" y="4702064"/>
            <a:ext cx="6911008" cy="543339"/>
            <a:chOff x="3432313" y="5535930"/>
            <a:chExt cx="6911008" cy="543339"/>
          </a:xfrm>
        </p:grpSpPr>
        <p:cxnSp>
          <p:nvCxnSpPr>
            <p:cNvPr id="68" name="Google Shape;68;p7"/>
            <p:cNvCxnSpPr/>
            <p:nvPr/>
          </p:nvCxnSpPr>
          <p:spPr>
            <a:xfrm>
              <a:off x="3703982" y="6072054"/>
              <a:ext cx="6639339" cy="0"/>
            </a:xfrm>
            <a:prstGeom prst="straightConnector1">
              <a:avLst/>
            </a:prstGeom>
            <a:noFill/>
            <a:ln cap="flat" cmpd="sng" w="9525">
              <a:solidFill>
                <a:srgbClr val="DEDEDE"/>
              </a:solidFill>
              <a:prstDash val="solid"/>
              <a:miter lim="800000"/>
              <a:headEnd len="sm" w="sm" type="none"/>
              <a:tailEnd len="sm" w="sm" type="none"/>
            </a:ln>
          </p:spPr>
        </p:cxnSp>
        <p:sp>
          <p:nvSpPr>
            <p:cNvPr id="69" name="Google Shape;69;p7"/>
            <p:cNvSpPr/>
            <p:nvPr/>
          </p:nvSpPr>
          <p:spPr>
            <a:xfrm>
              <a:off x="3432313" y="5535930"/>
              <a:ext cx="543339" cy="543339"/>
            </a:xfrm>
            <a:prstGeom prst="round2DiagRect">
              <a:avLst>
                <a:gd fmla="val 16667" name="adj1"/>
                <a:gd fmla="val 0" name="adj2"/>
              </a:avLst>
            </a:prstGeom>
            <a:solidFill>
              <a:srgbClr val="DEDE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u="none">
                  <a:solidFill>
                    <a:schemeClr val="lt1"/>
                  </a:solidFill>
                  <a:latin typeface="Arial"/>
                  <a:ea typeface="Arial"/>
                  <a:cs typeface="Arial"/>
                  <a:sym typeface="Arial"/>
                </a:rPr>
                <a:t>6</a:t>
              </a:r>
              <a:endParaRPr b="1" sz="2000">
                <a:solidFill>
                  <a:schemeClr val="lt1"/>
                </a:solidFill>
                <a:latin typeface="Arial"/>
                <a:ea typeface="Arial"/>
                <a:cs typeface="Arial"/>
                <a:sym typeface="Arial"/>
              </a:endParaRPr>
            </a:p>
          </p:txBody>
        </p:sp>
        <p:sp>
          <p:nvSpPr>
            <p:cNvPr id="70" name="Google Shape;70;p7"/>
            <p:cNvSpPr txBox="1"/>
            <p:nvPr/>
          </p:nvSpPr>
          <p:spPr>
            <a:xfrm>
              <a:off x="4200936" y="5576766"/>
              <a:ext cx="171886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u="none">
                  <a:solidFill>
                    <a:srgbClr val="575756"/>
                  </a:solidFill>
                  <a:latin typeface="Calibri"/>
                  <a:ea typeface="Calibri"/>
                  <a:cs typeface="Calibri"/>
                  <a:sym typeface="Calibri"/>
                </a:rPr>
                <a:t>Business Value</a:t>
              </a:r>
              <a:endParaRPr sz="2000">
                <a:solidFill>
                  <a:srgbClr val="575756"/>
                </a:solidFill>
                <a:latin typeface="Calibri"/>
                <a:ea typeface="Calibri"/>
                <a:cs typeface="Calibri"/>
                <a:sym typeface="Calibri"/>
              </a:endParaRPr>
            </a:p>
          </p:txBody>
        </p:sp>
      </p:grpSp>
      <p:pic>
        <p:nvPicPr>
          <p:cNvPr id="71" name="Google Shape;71;p7"/>
          <p:cNvPicPr preferRelativeResize="0"/>
          <p:nvPr/>
        </p:nvPicPr>
        <p:blipFill rotWithShape="1">
          <a:blip r:embed="rId3">
            <a:alphaModFix/>
          </a:blip>
          <a:srcRect b="0" l="0" r="0" t="0"/>
          <a:stretch/>
        </p:blipFill>
        <p:spPr>
          <a:xfrm>
            <a:off x="508502" y="2457814"/>
            <a:ext cx="2857500" cy="2857500"/>
          </a:xfrm>
          <a:prstGeom prst="rect">
            <a:avLst/>
          </a:prstGeom>
          <a:noFill/>
          <a:ln>
            <a:noFill/>
          </a:ln>
        </p:spPr>
      </p:pic>
      <p:grpSp>
        <p:nvGrpSpPr>
          <p:cNvPr id="72" name="Google Shape;72;p7"/>
          <p:cNvGrpSpPr/>
          <p:nvPr/>
        </p:nvGrpSpPr>
        <p:grpSpPr>
          <a:xfrm>
            <a:off x="4306838" y="5377876"/>
            <a:ext cx="6911008" cy="543339"/>
            <a:chOff x="3432313" y="4574015"/>
            <a:chExt cx="6911008" cy="543339"/>
          </a:xfrm>
        </p:grpSpPr>
        <p:cxnSp>
          <p:nvCxnSpPr>
            <p:cNvPr id="73" name="Google Shape;73;p7"/>
            <p:cNvCxnSpPr/>
            <p:nvPr/>
          </p:nvCxnSpPr>
          <p:spPr>
            <a:xfrm>
              <a:off x="3703982" y="5110139"/>
              <a:ext cx="6639339" cy="0"/>
            </a:xfrm>
            <a:prstGeom prst="straightConnector1">
              <a:avLst/>
            </a:prstGeom>
            <a:noFill/>
            <a:ln cap="flat" cmpd="sng" w="9525">
              <a:solidFill>
                <a:srgbClr val="DEDEDE"/>
              </a:solidFill>
              <a:prstDash val="solid"/>
              <a:miter lim="800000"/>
              <a:headEnd len="sm" w="sm" type="none"/>
              <a:tailEnd len="sm" w="sm" type="none"/>
            </a:ln>
          </p:spPr>
        </p:cxnSp>
        <p:sp>
          <p:nvSpPr>
            <p:cNvPr id="74" name="Google Shape;74;p7"/>
            <p:cNvSpPr/>
            <p:nvPr/>
          </p:nvSpPr>
          <p:spPr>
            <a:xfrm>
              <a:off x="3432313" y="4574015"/>
              <a:ext cx="543339" cy="543339"/>
            </a:xfrm>
            <a:prstGeom prst="round2DiagRect">
              <a:avLst>
                <a:gd fmla="val 16667" name="adj1"/>
                <a:gd fmla="val 0" name="adj2"/>
              </a:avLst>
            </a:prstGeom>
            <a:solidFill>
              <a:srgbClr val="DEDE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u="none">
                  <a:solidFill>
                    <a:schemeClr val="lt1"/>
                  </a:solidFill>
                  <a:latin typeface="Arial"/>
                  <a:ea typeface="Arial"/>
                  <a:cs typeface="Arial"/>
                  <a:sym typeface="Arial"/>
                </a:rPr>
                <a:t>7</a:t>
              </a:r>
              <a:endParaRPr b="1" sz="2000">
                <a:solidFill>
                  <a:schemeClr val="lt1"/>
                </a:solidFill>
                <a:latin typeface="Arial"/>
                <a:ea typeface="Arial"/>
                <a:cs typeface="Arial"/>
                <a:sym typeface="Arial"/>
              </a:endParaRPr>
            </a:p>
          </p:txBody>
        </p:sp>
        <p:sp>
          <p:nvSpPr>
            <p:cNvPr id="75" name="Google Shape;75;p7"/>
            <p:cNvSpPr txBox="1"/>
            <p:nvPr/>
          </p:nvSpPr>
          <p:spPr>
            <a:xfrm>
              <a:off x="4200949" y="4614839"/>
              <a:ext cx="42555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575756"/>
                  </a:solidFill>
                  <a:latin typeface="Calibri"/>
                  <a:ea typeface="Calibri"/>
                  <a:cs typeface="Calibri"/>
                  <a:sym typeface="Calibri"/>
                </a:rPr>
                <a:t>Development Status &amp; Roadmap</a:t>
              </a:r>
              <a:endParaRPr sz="2000">
                <a:solidFill>
                  <a:srgbClr val="575756"/>
                </a:solidFill>
                <a:latin typeface="Calibri"/>
                <a:ea typeface="Calibri"/>
                <a:cs typeface="Calibri"/>
                <a:sym typeface="Calibri"/>
              </a:endParaRPr>
            </a:p>
          </p:txBody>
        </p:sp>
      </p:grpSp>
      <p:grpSp>
        <p:nvGrpSpPr>
          <p:cNvPr id="76" name="Google Shape;76;p7"/>
          <p:cNvGrpSpPr/>
          <p:nvPr/>
        </p:nvGrpSpPr>
        <p:grpSpPr>
          <a:xfrm>
            <a:off x="4306838" y="6053689"/>
            <a:ext cx="6911008" cy="543339"/>
            <a:chOff x="3432313" y="5535930"/>
            <a:chExt cx="6911008" cy="543339"/>
          </a:xfrm>
        </p:grpSpPr>
        <p:cxnSp>
          <p:nvCxnSpPr>
            <p:cNvPr id="77" name="Google Shape;77;p7"/>
            <p:cNvCxnSpPr/>
            <p:nvPr/>
          </p:nvCxnSpPr>
          <p:spPr>
            <a:xfrm>
              <a:off x="3703982" y="6072054"/>
              <a:ext cx="6639339" cy="0"/>
            </a:xfrm>
            <a:prstGeom prst="straightConnector1">
              <a:avLst/>
            </a:prstGeom>
            <a:noFill/>
            <a:ln cap="flat" cmpd="sng" w="9525">
              <a:solidFill>
                <a:srgbClr val="DEDEDE"/>
              </a:solidFill>
              <a:prstDash val="solid"/>
              <a:miter lim="800000"/>
              <a:headEnd len="sm" w="sm" type="none"/>
              <a:tailEnd len="sm" w="sm" type="none"/>
            </a:ln>
          </p:spPr>
        </p:cxnSp>
        <p:sp>
          <p:nvSpPr>
            <p:cNvPr id="78" name="Google Shape;78;p7"/>
            <p:cNvSpPr/>
            <p:nvPr/>
          </p:nvSpPr>
          <p:spPr>
            <a:xfrm>
              <a:off x="3432313" y="5535930"/>
              <a:ext cx="543339" cy="543339"/>
            </a:xfrm>
            <a:prstGeom prst="round2DiagRect">
              <a:avLst>
                <a:gd fmla="val 16667" name="adj1"/>
                <a:gd fmla="val 0" name="adj2"/>
              </a:avLst>
            </a:prstGeom>
            <a:solidFill>
              <a:srgbClr val="DEDE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u="none">
                  <a:solidFill>
                    <a:schemeClr val="lt1"/>
                  </a:solidFill>
                  <a:latin typeface="Arial"/>
                  <a:ea typeface="Arial"/>
                  <a:cs typeface="Arial"/>
                  <a:sym typeface="Arial"/>
                </a:rPr>
                <a:t>8</a:t>
              </a:r>
              <a:endParaRPr b="1" sz="2000">
                <a:solidFill>
                  <a:schemeClr val="lt1"/>
                </a:solidFill>
                <a:latin typeface="Arial"/>
                <a:ea typeface="Arial"/>
                <a:cs typeface="Arial"/>
                <a:sym typeface="Arial"/>
              </a:endParaRPr>
            </a:p>
          </p:txBody>
        </p:sp>
        <p:sp>
          <p:nvSpPr>
            <p:cNvPr id="79" name="Google Shape;79;p7"/>
            <p:cNvSpPr txBox="1"/>
            <p:nvPr/>
          </p:nvSpPr>
          <p:spPr>
            <a:xfrm>
              <a:off x="4200936" y="5576766"/>
              <a:ext cx="165808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575756"/>
                  </a:solidFill>
                  <a:latin typeface="Calibri"/>
                  <a:ea typeface="Calibri"/>
                  <a:cs typeface="Calibri"/>
                  <a:sym typeface="Calibri"/>
                </a:rPr>
                <a:t>Demo</a:t>
              </a:r>
              <a:endParaRPr sz="2000">
                <a:solidFill>
                  <a:srgbClr val="575756"/>
                </a:solidFill>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8"/>
          <p:cNvSpPr txBox="1"/>
          <p:nvPr/>
        </p:nvSpPr>
        <p:spPr>
          <a:xfrm>
            <a:off x="938804" y="325270"/>
            <a:ext cx="10736446" cy="3950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90000"/>
              </a:buClr>
              <a:buSzPts val="2799"/>
              <a:buFont typeface="Arial"/>
              <a:buNone/>
            </a:pPr>
            <a:r>
              <a:rPr b="1" lang="en-US" sz="2799" u="none">
                <a:solidFill>
                  <a:srgbClr val="990000"/>
                </a:solidFill>
                <a:latin typeface="Microsoft YaHei"/>
                <a:ea typeface="Microsoft YaHei"/>
                <a:cs typeface="Microsoft YaHei"/>
                <a:sym typeface="Microsoft YaHei"/>
              </a:rPr>
              <a:t>Team Introduction</a:t>
            </a:r>
            <a:endParaRPr b="1" sz="2799">
              <a:solidFill>
                <a:srgbClr val="990000"/>
              </a:solidFill>
              <a:latin typeface="Microsoft YaHei"/>
              <a:ea typeface="Microsoft YaHei"/>
              <a:cs typeface="Microsoft YaHei"/>
              <a:sym typeface="Microsoft YaHei"/>
            </a:endParaRPr>
          </a:p>
        </p:txBody>
      </p:sp>
      <p:sp>
        <p:nvSpPr>
          <p:cNvPr id="85" name="Google Shape;85;p8"/>
          <p:cNvSpPr/>
          <p:nvPr/>
        </p:nvSpPr>
        <p:spPr>
          <a:xfrm>
            <a:off x="0" y="6435634"/>
            <a:ext cx="12192000" cy="422366"/>
          </a:xfrm>
          <a:prstGeom prst="rect">
            <a:avLst/>
          </a:prstGeom>
          <a:solidFill>
            <a:srgbClr val="D7E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86" name="Google Shape;86;p8"/>
          <p:cNvPicPr preferRelativeResize="0"/>
          <p:nvPr/>
        </p:nvPicPr>
        <p:blipFill rotWithShape="1">
          <a:blip r:embed="rId3">
            <a:alphaModFix/>
          </a:blip>
          <a:srcRect b="0" l="0" r="0" t="0"/>
          <a:stretch/>
        </p:blipFill>
        <p:spPr>
          <a:xfrm>
            <a:off x="11171100" y="5625922"/>
            <a:ext cx="1020900" cy="1020900"/>
          </a:xfrm>
          <a:prstGeom prst="rect">
            <a:avLst/>
          </a:prstGeom>
          <a:noFill/>
          <a:ln>
            <a:noFill/>
          </a:ln>
        </p:spPr>
      </p:pic>
      <p:sp>
        <p:nvSpPr>
          <p:cNvPr id="87" name="Google Shape;87;p8"/>
          <p:cNvSpPr txBox="1"/>
          <p:nvPr/>
        </p:nvSpPr>
        <p:spPr>
          <a:xfrm>
            <a:off x="273900" y="3646250"/>
            <a:ext cx="3461100" cy="243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US" sz="1300">
                <a:solidFill>
                  <a:schemeClr val="dk2"/>
                </a:solidFill>
                <a:latin typeface="Microsoft YaHei"/>
                <a:ea typeface="Microsoft YaHei"/>
                <a:cs typeface="Microsoft YaHei"/>
                <a:sym typeface="Microsoft YaHei"/>
              </a:rPr>
              <a:t>University Name:</a:t>
            </a:r>
            <a:endParaRPr b="1" sz="1300">
              <a:solidFill>
                <a:schemeClr val="dk2"/>
              </a:solidFill>
              <a:latin typeface="Microsoft YaHei"/>
              <a:ea typeface="Microsoft YaHei"/>
              <a:cs typeface="Microsoft YaHei"/>
              <a:sym typeface="Microsoft YaHei"/>
            </a:endParaRPr>
          </a:p>
          <a:p>
            <a:pPr indent="0" lvl="0" marL="0" marR="0" rtl="0" algn="ctr">
              <a:lnSpc>
                <a:spcPct val="100000"/>
              </a:lnSpc>
              <a:spcBef>
                <a:spcPts val="0"/>
              </a:spcBef>
              <a:spcAft>
                <a:spcPts val="0"/>
              </a:spcAft>
              <a:buClr>
                <a:srgbClr val="000000"/>
              </a:buClr>
              <a:buSzPts val="1400"/>
              <a:buFont typeface="Arial"/>
              <a:buNone/>
            </a:pPr>
            <a:r>
              <a:rPr lang="en-US" sz="1300">
                <a:solidFill>
                  <a:schemeClr val="dk2"/>
                </a:solidFill>
                <a:latin typeface="Microsoft YaHei"/>
                <a:ea typeface="Microsoft YaHei"/>
                <a:cs typeface="Microsoft YaHei"/>
                <a:sym typeface="Microsoft YaHei"/>
              </a:rPr>
              <a:t>Technological Institute of the Philippines </a:t>
            </a:r>
            <a:endParaRPr sz="1300">
              <a:solidFill>
                <a:schemeClr val="dk2"/>
              </a:solidFill>
              <a:latin typeface="Microsoft YaHei"/>
              <a:ea typeface="Microsoft YaHei"/>
              <a:cs typeface="Microsoft YaHei"/>
              <a:sym typeface="Microsoft YaHei"/>
            </a:endParaRPr>
          </a:p>
          <a:p>
            <a:pPr indent="0" lvl="0" marL="0" marR="0" rtl="0" algn="ctr">
              <a:lnSpc>
                <a:spcPct val="100000"/>
              </a:lnSpc>
              <a:spcBef>
                <a:spcPts val="0"/>
              </a:spcBef>
              <a:spcAft>
                <a:spcPts val="0"/>
              </a:spcAft>
              <a:buClr>
                <a:srgbClr val="000000"/>
              </a:buClr>
              <a:buSzPts val="1400"/>
              <a:buFont typeface="Arial"/>
              <a:buNone/>
            </a:pPr>
            <a:r>
              <a:rPr lang="en-US" sz="1300">
                <a:solidFill>
                  <a:schemeClr val="dk2"/>
                </a:solidFill>
                <a:latin typeface="Microsoft YaHei"/>
                <a:ea typeface="Microsoft YaHei"/>
                <a:cs typeface="Microsoft YaHei"/>
                <a:sym typeface="Microsoft YaHei"/>
              </a:rPr>
              <a:t>- Quezon City</a:t>
            </a:r>
            <a:endParaRPr sz="1300">
              <a:solidFill>
                <a:schemeClr val="dk2"/>
              </a:solidFill>
              <a:latin typeface="Microsoft YaHei"/>
              <a:ea typeface="Microsoft YaHei"/>
              <a:cs typeface="Microsoft YaHei"/>
              <a:sym typeface="Microsoft YaHei"/>
            </a:endParaRPr>
          </a:p>
          <a:p>
            <a:pPr indent="0" lvl="0" marL="0" marR="0" rtl="0" algn="ctr">
              <a:lnSpc>
                <a:spcPct val="100000"/>
              </a:lnSpc>
              <a:spcBef>
                <a:spcPts val="0"/>
              </a:spcBef>
              <a:spcAft>
                <a:spcPts val="0"/>
              </a:spcAft>
              <a:buClr>
                <a:srgbClr val="000000"/>
              </a:buClr>
              <a:buSzPts val="1400"/>
              <a:buFont typeface="Arial"/>
              <a:buNone/>
            </a:pPr>
            <a:r>
              <a:t/>
            </a:r>
            <a:endParaRPr sz="1300">
              <a:solidFill>
                <a:schemeClr val="dk2"/>
              </a:solidFill>
              <a:latin typeface="Microsoft YaHei"/>
              <a:ea typeface="Microsoft YaHei"/>
              <a:cs typeface="Microsoft YaHei"/>
              <a:sym typeface="Microsoft YaHei"/>
            </a:endParaRPr>
          </a:p>
          <a:p>
            <a:pPr indent="0" lvl="0" marL="0" marR="0" rtl="0" algn="ctr">
              <a:lnSpc>
                <a:spcPct val="100000"/>
              </a:lnSpc>
              <a:spcBef>
                <a:spcPts val="0"/>
              </a:spcBef>
              <a:spcAft>
                <a:spcPts val="0"/>
              </a:spcAft>
              <a:buClr>
                <a:srgbClr val="000000"/>
              </a:buClr>
              <a:buSzPts val="1400"/>
              <a:buFont typeface="Arial"/>
              <a:buNone/>
            </a:pPr>
            <a:r>
              <a:rPr b="1" lang="en-US" sz="1300">
                <a:solidFill>
                  <a:schemeClr val="dk2"/>
                </a:solidFill>
                <a:latin typeface="Microsoft YaHei"/>
                <a:ea typeface="Microsoft YaHei"/>
                <a:cs typeface="Microsoft YaHei"/>
                <a:sym typeface="Microsoft YaHei"/>
              </a:rPr>
              <a:t>Position/Role:</a:t>
            </a:r>
            <a:endParaRPr b="1" sz="1300">
              <a:solidFill>
                <a:schemeClr val="dk2"/>
              </a:solidFill>
              <a:latin typeface="Microsoft YaHei"/>
              <a:ea typeface="Microsoft YaHei"/>
              <a:cs typeface="Microsoft YaHei"/>
              <a:sym typeface="Microsoft YaHei"/>
            </a:endParaRPr>
          </a:p>
          <a:p>
            <a:pPr indent="0" lvl="0" marL="0" marR="0" rtl="0" algn="ctr">
              <a:lnSpc>
                <a:spcPct val="100000"/>
              </a:lnSpc>
              <a:spcBef>
                <a:spcPts val="0"/>
              </a:spcBef>
              <a:spcAft>
                <a:spcPts val="0"/>
              </a:spcAft>
              <a:buClr>
                <a:srgbClr val="000000"/>
              </a:buClr>
              <a:buSzPts val="1400"/>
              <a:buFont typeface="Arial"/>
              <a:buNone/>
            </a:pPr>
            <a:r>
              <a:rPr lang="en-US" sz="1300">
                <a:solidFill>
                  <a:schemeClr val="dk2"/>
                </a:solidFill>
                <a:latin typeface="Microsoft YaHei"/>
                <a:ea typeface="Microsoft YaHei"/>
                <a:cs typeface="Microsoft YaHei"/>
                <a:sym typeface="Microsoft YaHei"/>
              </a:rPr>
              <a:t>Backend API Development</a:t>
            </a:r>
            <a:endParaRPr sz="1300">
              <a:solidFill>
                <a:schemeClr val="dk2"/>
              </a:solidFill>
              <a:latin typeface="Microsoft YaHei"/>
              <a:ea typeface="Microsoft YaHei"/>
              <a:cs typeface="Microsoft YaHei"/>
              <a:sym typeface="Microsoft YaHei"/>
            </a:endParaRPr>
          </a:p>
          <a:p>
            <a:pPr indent="0" lvl="0" marL="0" marR="0" rtl="0" algn="ctr">
              <a:lnSpc>
                <a:spcPct val="100000"/>
              </a:lnSpc>
              <a:spcBef>
                <a:spcPts val="0"/>
              </a:spcBef>
              <a:spcAft>
                <a:spcPts val="0"/>
              </a:spcAft>
              <a:buClr>
                <a:srgbClr val="000000"/>
              </a:buClr>
              <a:buSzPts val="1400"/>
              <a:buFont typeface="Arial"/>
              <a:buNone/>
            </a:pPr>
            <a:r>
              <a:t/>
            </a:r>
            <a:endParaRPr sz="1300">
              <a:solidFill>
                <a:schemeClr val="dk2"/>
              </a:solidFill>
              <a:latin typeface="Microsoft YaHei"/>
              <a:ea typeface="Microsoft YaHei"/>
              <a:cs typeface="Microsoft YaHei"/>
              <a:sym typeface="Microsoft YaHei"/>
            </a:endParaRPr>
          </a:p>
          <a:p>
            <a:pPr indent="0" lvl="0" marL="0" marR="0" rtl="0" algn="ctr">
              <a:spcBef>
                <a:spcPts val="0"/>
              </a:spcBef>
              <a:spcAft>
                <a:spcPts val="0"/>
              </a:spcAft>
              <a:buNone/>
            </a:pPr>
            <a:r>
              <a:rPr b="1" lang="en-US" sz="1300">
                <a:solidFill>
                  <a:schemeClr val="dk2"/>
                </a:solidFill>
                <a:latin typeface="Microsoft YaHei"/>
                <a:ea typeface="Microsoft YaHei"/>
                <a:cs typeface="Microsoft YaHei"/>
                <a:sym typeface="Microsoft YaHei"/>
              </a:rPr>
              <a:t>Background/Experience</a:t>
            </a:r>
            <a:r>
              <a:rPr b="1" lang="en-US" sz="1300">
                <a:solidFill>
                  <a:schemeClr val="dk2"/>
                </a:solidFill>
                <a:latin typeface="Microsoft YaHei"/>
                <a:ea typeface="Microsoft YaHei"/>
                <a:cs typeface="Microsoft YaHei"/>
                <a:sym typeface="Microsoft YaHei"/>
              </a:rPr>
              <a:t>:</a:t>
            </a:r>
            <a:endParaRPr b="1" sz="1300">
              <a:solidFill>
                <a:schemeClr val="dk2"/>
              </a:solidFill>
              <a:latin typeface="Microsoft YaHei"/>
              <a:ea typeface="Microsoft YaHei"/>
              <a:cs typeface="Microsoft YaHei"/>
              <a:sym typeface="Microsoft YaHei"/>
            </a:endParaRPr>
          </a:p>
          <a:p>
            <a:pPr indent="0" lvl="0" marL="0" marR="0" rtl="0" algn="ctr">
              <a:spcBef>
                <a:spcPts val="0"/>
              </a:spcBef>
              <a:spcAft>
                <a:spcPts val="0"/>
              </a:spcAft>
              <a:buNone/>
            </a:pPr>
            <a:r>
              <a:rPr lang="en-US" sz="1300">
                <a:solidFill>
                  <a:schemeClr val="dk2"/>
                </a:solidFill>
                <a:latin typeface="Microsoft YaHei"/>
                <a:ea typeface="Microsoft YaHei"/>
                <a:cs typeface="Microsoft YaHei"/>
                <a:sym typeface="Microsoft YaHei"/>
              </a:rPr>
              <a:t>Undergraduate, Computer Engineering</a:t>
            </a:r>
            <a:endParaRPr sz="1300">
              <a:solidFill>
                <a:schemeClr val="dk2"/>
              </a:solidFill>
              <a:latin typeface="Microsoft YaHei"/>
              <a:ea typeface="Microsoft YaHei"/>
              <a:cs typeface="Microsoft YaHei"/>
              <a:sym typeface="Microsoft YaHei"/>
            </a:endParaRPr>
          </a:p>
          <a:p>
            <a:pPr indent="0" lvl="0" marL="0" marR="0" rtl="0" algn="ctr">
              <a:spcBef>
                <a:spcPts val="0"/>
              </a:spcBef>
              <a:spcAft>
                <a:spcPts val="0"/>
              </a:spcAft>
              <a:buNone/>
            </a:pPr>
            <a:r>
              <a:rPr lang="en-US" sz="1300">
                <a:solidFill>
                  <a:schemeClr val="dk2"/>
                </a:solidFill>
                <a:latin typeface="Microsoft YaHei"/>
                <a:ea typeface="Microsoft YaHei"/>
                <a:cs typeface="Microsoft YaHei"/>
                <a:sym typeface="Microsoft YaHei"/>
              </a:rPr>
              <a:t>Major in Cyber-Physical Systems</a:t>
            </a:r>
            <a:endParaRPr sz="1300">
              <a:solidFill>
                <a:schemeClr val="dk2"/>
              </a:solidFill>
              <a:latin typeface="Microsoft YaHei"/>
              <a:ea typeface="Microsoft YaHei"/>
              <a:cs typeface="Microsoft YaHei"/>
              <a:sym typeface="Microsoft YaHei"/>
            </a:endParaRPr>
          </a:p>
        </p:txBody>
      </p:sp>
      <p:sp>
        <p:nvSpPr>
          <p:cNvPr id="88" name="Google Shape;88;p8"/>
          <p:cNvSpPr txBox="1"/>
          <p:nvPr/>
        </p:nvSpPr>
        <p:spPr>
          <a:xfrm>
            <a:off x="484976" y="3172331"/>
            <a:ext cx="3039000" cy="395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chemeClr val="dk2"/>
                </a:solidFill>
                <a:latin typeface="Microsoft YaHei"/>
                <a:ea typeface="Microsoft YaHei"/>
                <a:cs typeface="Microsoft YaHei"/>
                <a:sym typeface="Microsoft YaHei"/>
              </a:rPr>
              <a:t>Mark Jeonel Kenn Gob</a:t>
            </a:r>
            <a:endParaRPr sz="1600">
              <a:solidFill>
                <a:schemeClr val="dk2"/>
              </a:solidFill>
              <a:latin typeface="Microsoft YaHei"/>
              <a:ea typeface="Microsoft YaHei"/>
              <a:cs typeface="Microsoft YaHei"/>
              <a:sym typeface="Microsoft YaHei"/>
            </a:endParaRPr>
          </a:p>
          <a:p>
            <a:pPr indent="0" lvl="0" marL="0" marR="0" rtl="0" algn="ctr">
              <a:lnSpc>
                <a:spcPct val="100000"/>
              </a:lnSpc>
              <a:spcBef>
                <a:spcPts val="0"/>
              </a:spcBef>
              <a:spcAft>
                <a:spcPts val="0"/>
              </a:spcAft>
              <a:buClr>
                <a:srgbClr val="000000"/>
              </a:buClr>
              <a:buSzPts val="1600"/>
              <a:buFont typeface="Arial"/>
              <a:buNone/>
            </a:pPr>
            <a:r>
              <a:t/>
            </a:r>
            <a:endParaRPr sz="1600">
              <a:solidFill>
                <a:schemeClr val="dk2"/>
              </a:solidFill>
              <a:latin typeface="Microsoft YaHei"/>
              <a:ea typeface="Microsoft YaHei"/>
              <a:cs typeface="Microsoft YaHei"/>
              <a:sym typeface="Microsoft YaHei"/>
            </a:endParaRPr>
          </a:p>
        </p:txBody>
      </p:sp>
      <p:sp>
        <p:nvSpPr>
          <p:cNvPr id="89" name="Google Shape;89;p8"/>
          <p:cNvSpPr txBox="1"/>
          <p:nvPr/>
        </p:nvSpPr>
        <p:spPr>
          <a:xfrm>
            <a:off x="4466249" y="3162875"/>
            <a:ext cx="3259500" cy="615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chemeClr val="dk2"/>
                </a:solidFill>
                <a:latin typeface="Microsoft YaHei"/>
                <a:ea typeface="Microsoft YaHei"/>
                <a:cs typeface="Microsoft YaHei"/>
                <a:sym typeface="Microsoft YaHei"/>
              </a:rPr>
              <a:t>Hazel Aillson Manuel</a:t>
            </a:r>
            <a:endParaRPr sz="1600">
              <a:solidFill>
                <a:schemeClr val="dk2"/>
              </a:solidFill>
              <a:latin typeface="Microsoft YaHei"/>
              <a:ea typeface="Microsoft YaHei"/>
              <a:cs typeface="Microsoft YaHei"/>
              <a:sym typeface="Microsoft YaHei"/>
            </a:endParaRPr>
          </a:p>
        </p:txBody>
      </p:sp>
      <p:sp>
        <p:nvSpPr>
          <p:cNvPr id="90" name="Google Shape;90;p8"/>
          <p:cNvSpPr txBox="1"/>
          <p:nvPr/>
        </p:nvSpPr>
        <p:spPr>
          <a:xfrm>
            <a:off x="8862009" y="3166913"/>
            <a:ext cx="1926000" cy="337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chemeClr val="dk2"/>
                </a:solidFill>
                <a:latin typeface="Microsoft YaHei"/>
                <a:ea typeface="Microsoft YaHei"/>
                <a:cs typeface="Microsoft YaHei"/>
                <a:sym typeface="Microsoft YaHei"/>
              </a:rPr>
              <a:t>Andrei Santos</a:t>
            </a:r>
            <a:endParaRPr sz="1600">
              <a:solidFill>
                <a:schemeClr val="dk2"/>
              </a:solidFill>
              <a:latin typeface="Microsoft YaHei"/>
              <a:ea typeface="Microsoft YaHei"/>
              <a:cs typeface="Microsoft YaHei"/>
              <a:sym typeface="Microsoft YaHei"/>
            </a:endParaRPr>
          </a:p>
        </p:txBody>
      </p:sp>
      <p:sp>
        <p:nvSpPr>
          <p:cNvPr id="91" name="Google Shape;91;p8"/>
          <p:cNvSpPr txBox="1"/>
          <p:nvPr/>
        </p:nvSpPr>
        <p:spPr>
          <a:xfrm>
            <a:off x="8161650" y="3633547"/>
            <a:ext cx="3461100" cy="2114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US" sz="1300">
                <a:solidFill>
                  <a:schemeClr val="dk2"/>
                </a:solidFill>
                <a:latin typeface="Microsoft YaHei"/>
                <a:ea typeface="Microsoft YaHei"/>
                <a:cs typeface="Microsoft YaHei"/>
                <a:sym typeface="Microsoft YaHei"/>
              </a:rPr>
              <a:t>University Name:</a:t>
            </a:r>
            <a:endParaRPr b="1" sz="1300">
              <a:solidFill>
                <a:schemeClr val="dk2"/>
              </a:solidFill>
              <a:latin typeface="Microsoft YaHei"/>
              <a:ea typeface="Microsoft YaHei"/>
              <a:cs typeface="Microsoft YaHei"/>
              <a:sym typeface="Microsoft YaHei"/>
            </a:endParaRPr>
          </a:p>
          <a:p>
            <a:pPr indent="0" lvl="0" marL="0" marR="0" rtl="0" algn="ctr">
              <a:lnSpc>
                <a:spcPct val="100000"/>
              </a:lnSpc>
              <a:spcBef>
                <a:spcPts val="0"/>
              </a:spcBef>
              <a:spcAft>
                <a:spcPts val="0"/>
              </a:spcAft>
              <a:buClr>
                <a:srgbClr val="000000"/>
              </a:buClr>
              <a:buSzPts val="1400"/>
              <a:buFont typeface="Arial"/>
              <a:buNone/>
            </a:pPr>
            <a:r>
              <a:rPr lang="en-US" sz="1300">
                <a:solidFill>
                  <a:schemeClr val="dk2"/>
                </a:solidFill>
                <a:latin typeface="Microsoft YaHei"/>
                <a:ea typeface="Microsoft YaHei"/>
                <a:cs typeface="Microsoft YaHei"/>
                <a:sym typeface="Microsoft YaHei"/>
              </a:rPr>
              <a:t>Technological Institute of the Philippines</a:t>
            </a:r>
            <a:endParaRPr sz="1300">
              <a:solidFill>
                <a:schemeClr val="dk2"/>
              </a:solidFill>
              <a:latin typeface="Microsoft YaHei"/>
              <a:ea typeface="Microsoft YaHei"/>
              <a:cs typeface="Microsoft YaHei"/>
              <a:sym typeface="Microsoft YaHei"/>
            </a:endParaRPr>
          </a:p>
          <a:p>
            <a:pPr indent="0" lvl="0" marL="0" marR="0" rtl="0" algn="ctr">
              <a:lnSpc>
                <a:spcPct val="100000"/>
              </a:lnSpc>
              <a:spcBef>
                <a:spcPts val="0"/>
              </a:spcBef>
              <a:spcAft>
                <a:spcPts val="0"/>
              </a:spcAft>
              <a:buClr>
                <a:srgbClr val="000000"/>
              </a:buClr>
              <a:buSzPts val="1400"/>
              <a:buFont typeface="Arial"/>
              <a:buNone/>
            </a:pPr>
            <a:r>
              <a:rPr lang="en-US" sz="1300">
                <a:solidFill>
                  <a:schemeClr val="dk2"/>
                </a:solidFill>
                <a:latin typeface="Microsoft YaHei"/>
                <a:ea typeface="Microsoft YaHei"/>
                <a:cs typeface="Microsoft YaHei"/>
                <a:sym typeface="Microsoft YaHei"/>
              </a:rPr>
              <a:t>- Quezon City</a:t>
            </a:r>
            <a:endParaRPr sz="1300">
              <a:solidFill>
                <a:schemeClr val="dk2"/>
              </a:solidFill>
              <a:latin typeface="Microsoft YaHei"/>
              <a:ea typeface="Microsoft YaHei"/>
              <a:cs typeface="Microsoft YaHei"/>
              <a:sym typeface="Microsoft YaHei"/>
            </a:endParaRPr>
          </a:p>
          <a:p>
            <a:pPr indent="0" lvl="0" marL="0" marR="0" rtl="0" algn="ctr">
              <a:lnSpc>
                <a:spcPct val="100000"/>
              </a:lnSpc>
              <a:spcBef>
                <a:spcPts val="0"/>
              </a:spcBef>
              <a:spcAft>
                <a:spcPts val="0"/>
              </a:spcAft>
              <a:buClr>
                <a:srgbClr val="000000"/>
              </a:buClr>
              <a:buSzPts val="1400"/>
              <a:buFont typeface="Arial"/>
              <a:buNone/>
            </a:pPr>
            <a:r>
              <a:t/>
            </a:r>
            <a:endParaRPr sz="1300">
              <a:solidFill>
                <a:schemeClr val="dk2"/>
              </a:solidFill>
              <a:latin typeface="Microsoft YaHei"/>
              <a:ea typeface="Microsoft YaHei"/>
              <a:cs typeface="Microsoft YaHei"/>
              <a:sym typeface="Microsoft YaHei"/>
            </a:endParaRPr>
          </a:p>
          <a:p>
            <a:pPr indent="0" lvl="0" marL="0" marR="0" rtl="0" algn="ctr">
              <a:lnSpc>
                <a:spcPct val="100000"/>
              </a:lnSpc>
              <a:spcBef>
                <a:spcPts val="0"/>
              </a:spcBef>
              <a:spcAft>
                <a:spcPts val="0"/>
              </a:spcAft>
              <a:buClr>
                <a:srgbClr val="000000"/>
              </a:buClr>
              <a:buSzPts val="1400"/>
              <a:buFont typeface="Arial"/>
              <a:buNone/>
            </a:pPr>
            <a:r>
              <a:rPr b="1" lang="en-US" sz="1300">
                <a:solidFill>
                  <a:schemeClr val="dk2"/>
                </a:solidFill>
                <a:latin typeface="Microsoft YaHei"/>
                <a:ea typeface="Microsoft YaHei"/>
                <a:cs typeface="Microsoft YaHei"/>
                <a:sym typeface="Microsoft YaHei"/>
              </a:rPr>
              <a:t>Position/Role:</a:t>
            </a:r>
            <a:endParaRPr b="1" sz="1300">
              <a:solidFill>
                <a:schemeClr val="dk2"/>
              </a:solidFill>
              <a:latin typeface="Microsoft YaHei"/>
              <a:ea typeface="Microsoft YaHei"/>
              <a:cs typeface="Microsoft YaHei"/>
              <a:sym typeface="Microsoft YaHei"/>
            </a:endParaRPr>
          </a:p>
          <a:p>
            <a:pPr indent="0" lvl="0" marL="0" marR="0" rtl="0" algn="ctr">
              <a:lnSpc>
                <a:spcPct val="100000"/>
              </a:lnSpc>
              <a:spcBef>
                <a:spcPts val="0"/>
              </a:spcBef>
              <a:spcAft>
                <a:spcPts val="0"/>
              </a:spcAft>
              <a:buClr>
                <a:srgbClr val="000000"/>
              </a:buClr>
              <a:buSzPts val="1400"/>
              <a:buFont typeface="Arial"/>
              <a:buNone/>
            </a:pPr>
            <a:r>
              <a:rPr lang="en-US" sz="1300">
                <a:solidFill>
                  <a:schemeClr val="dk2"/>
                </a:solidFill>
                <a:latin typeface="Microsoft YaHei"/>
                <a:ea typeface="Microsoft YaHei"/>
                <a:cs typeface="Microsoft YaHei"/>
                <a:sym typeface="Microsoft YaHei"/>
              </a:rPr>
              <a:t>AI Model Development &amp; Training Lead</a:t>
            </a:r>
            <a:endParaRPr sz="1300">
              <a:solidFill>
                <a:schemeClr val="dk2"/>
              </a:solidFill>
              <a:latin typeface="Microsoft YaHei"/>
              <a:ea typeface="Microsoft YaHei"/>
              <a:cs typeface="Microsoft YaHei"/>
              <a:sym typeface="Microsoft YaHei"/>
            </a:endParaRPr>
          </a:p>
          <a:p>
            <a:pPr indent="0" lvl="0" marL="0" marR="0" rtl="0" algn="ctr">
              <a:lnSpc>
                <a:spcPct val="100000"/>
              </a:lnSpc>
              <a:spcBef>
                <a:spcPts val="0"/>
              </a:spcBef>
              <a:spcAft>
                <a:spcPts val="0"/>
              </a:spcAft>
              <a:buClr>
                <a:srgbClr val="000000"/>
              </a:buClr>
              <a:buSzPts val="1400"/>
              <a:buFont typeface="Arial"/>
              <a:buNone/>
            </a:pPr>
            <a:r>
              <a:t/>
            </a:r>
            <a:endParaRPr sz="1300">
              <a:solidFill>
                <a:schemeClr val="dk2"/>
              </a:solidFill>
              <a:latin typeface="Microsoft YaHei"/>
              <a:ea typeface="Microsoft YaHei"/>
              <a:cs typeface="Microsoft YaHei"/>
              <a:sym typeface="Microsoft YaHei"/>
            </a:endParaRPr>
          </a:p>
          <a:p>
            <a:pPr indent="0" lvl="0" marL="0" marR="0" rtl="0" algn="ctr">
              <a:spcBef>
                <a:spcPts val="0"/>
              </a:spcBef>
              <a:spcAft>
                <a:spcPts val="0"/>
              </a:spcAft>
              <a:buNone/>
            </a:pPr>
            <a:r>
              <a:rPr b="1" lang="en-US" sz="1300">
                <a:solidFill>
                  <a:schemeClr val="dk2"/>
                </a:solidFill>
                <a:latin typeface="Microsoft YaHei"/>
                <a:ea typeface="Microsoft YaHei"/>
                <a:cs typeface="Microsoft YaHei"/>
                <a:sym typeface="Microsoft YaHei"/>
              </a:rPr>
              <a:t>Background/Experienc</a:t>
            </a:r>
            <a:r>
              <a:rPr b="1" lang="en-US" sz="1300">
                <a:solidFill>
                  <a:schemeClr val="dk2"/>
                </a:solidFill>
                <a:latin typeface="Microsoft YaHei"/>
                <a:ea typeface="Microsoft YaHei"/>
                <a:cs typeface="Microsoft YaHei"/>
                <a:sym typeface="Microsoft YaHei"/>
              </a:rPr>
              <a:t>e:</a:t>
            </a:r>
            <a:endParaRPr sz="1300">
              <a:solidFill>
                <a:schemeClr val="dk2"/>
              </a:solidFill>
              <a:latin typeface="Microsoft YaHei"/>
              <a:ea typeface="Microsoft YaHei"/>
              <a:cs typeface="Microsoft YaHei"/>
              <a:sym typeface="Microsoft YaHei"/>
            </a:endParaRPr>
          </a:p>
          <a:p>
            <a:pPr indent="0" lvl="0" marL="0" rtl="0" algn="ctr">
              <a:spcBef>
                <a:spcPts val="0"/>
              </a:spcBef>
              <a:spcAft>
                <a:spcPts val="0"/>
              </a:spcAft>
              <a:buClr>
                <a:schemeClr val="dk1"/>
              </a:buClr>
              <a:buSzPts val="1100"/>
              <a:buFont typeface="Arial"/>
              <a:buNone/>
            </a:pPr>
            <a:r>
              <a:rPr lang="en-US" sz="1300">
                <a:solidFill>
                  <a:schemeClr val="dk2"/>
                </a:solidFill>
                <a:latin typeface="Microsoft YaHei"/>
                <a:ea typeface="Microsoft YaHei"/>
                <a:cs typeface="Microsoft YaHei"/>
                <a:sym typeface="Microsoft YaHei"/>
              </a:rPr>
              <a:t>Undergraduate, Computer Engineering</a:t>
            </a:r>
            <a:endParaRPr sz="1300">
              <a:solidFill>
                <a:schemeClr val="dk2"/>
              </a:solidFill>
              <a:latin typeface="Microsoft YaHei"/>
              <a:ea typeface="Microsoft YaHei"/>
              <a:cs typeface="Microsoft YaHei"/>
              <a:sym typeface="Microsoft YaHei"/>
            </a:endParaRPr>
          </a:p>
          <a:p>
            <a:pPr indent="0" lvl="0" marL="0" rtl="0" algn="ctr">
              <a:spcBef>
                <a:spcPts val="0"/>
              </a:spcBef>
              <a:spcAft>
                <a:spcPts val="0"/>
              </a:spcAft>
              <a:buSzPts val="1100"/>
              <a:buNone/>
            </a:pPr>
            <a:r>
              <a:rPr lang="en-US" sz="1300">
                <a:solidFill>
                  <a:schemeClr val="dk2"/>
                </a:solidFill>
                <a:latin typeface="Microsoft YaHei"/>
                <a:ea typeface="Microsoft YaHei"/>
                <a:cs typeface="Microsoft YaHei"/>
                <a:sym typeface="Microsoft YaHei"/>
              </a:rPr>
              <a:t>Major in Human-Computer Interaction</a:t>
            </a:r>
            <a:endParaRPr sz="1300">
              <a:solidFill>
                <a:schemeClr val="dk2"/>
              </a:solidFill>
              <a:latin typeface="Microsoft YaHei"/>
              <a:ea typeface="Microsoft YaHei"/>
              <a:cs typeface="Microsoft YaHei"/>
              <a:sym typeface="Microsoft YaHei"/>
            </a:endParaRPr>
          </a:p>
        </p:txBody>
      </p:sp>
      <p:sp>
        <p:nvSpPr>
          <p:cNvPr id="92" name="Google Shape;92;p8"/>
          <p:cNvSpPr txBox="1"/>
          <p:nvPr/>
        </p:nvSpPr>
        <p:spPr>
          <a:xfrm>
            <a:off x="4400171" y="3628913"/>
            <a:ext cx="3461100" cy="2357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US" sz="1300">
                <a:solidFill>
                  <a:schemeClr val="dk2"/>
                </a:solidFill>
                <a:latin typeface="Microsoft YaHei"/>
                <a:ea typeface="Microsoft YaHei"/>
                <a:cs typeface="Microsoft YaHei"/>
                <a:sym typeface="Microsoft YaHei"/>
              </a:rPr>
              <a:t>University Name:</a:t>
            </a:r>
            <a:endParaRPr b="1" sz="1300">
              <a:solidFill>
                <a:schemeClr val="dk2"/>
              </a:solidFill>
              <a:latin typeface="Microsoft YaHei"/>
              <a:ea typeface="Microsoft YaHei"/>
              <a:cs typeface="Microsoft YaHei"/>
              <a:sym typeface="Microsoft YaHei"/>
            </a:endParaRPr>
          </a:p>
          <a:p>
            <a:pPr indent="0" lvl="0" marL="0" marR="0" rtl="0" algn="ctr">
              <a:lnSpc>
                <a:spcPct val="100000"/>
              </a:lnSpc>
              <a:spcBef>
                <a:spcPts val="0"/>
              </a:spcBef>
              <a:spcAft>
                <a:spcPts val="0"/>
              </a:spcAft>
              <a:buClr>
                <a:srgbClr val="000000"/>
              </a:buClr>
              <a:buSzPts val="1400"/>
              <a:buFont typeface="Arial"/>
              <a:buNone/>
            </a:pPr>
            <a:r>
              <a:rPr lang="en-US" sz="1300">
                <a:solidFill>
                  <a:schemeClr val="dk2"/>
                </a:solidFill>
                <a:latin typeface="Microsoft YaHei"/>
                <a:ea typeface="Microsoft YaHei"/>
                <a:cs typeface="Microsoft YaHei"/>
                <a:sym typeface="Microsoft YaHei"/>
              </a:rPr>
              <a:t>Technological Institute of the Philippines</a:t>
            </a:r>
            <a:endParaRPr sz="1300">
              <a:solidFill>
                <a:schemeClr val="dk2"/>
              </a:solidFill>
              <a:latin typeface="Microsoft YaHei"/>
              <a:ea typeface="Microsoft YaHei"/>
              <a:cs typeface="Microsoft YaHei"/>
              <a:sym typeface="Microsoft YaHei"/>
            </a:endParaRPr>
          </a:p>
          <a:p>
            <a:pPr indent="0" lvl="0" marL="0" marR="0" rtl="0" algn="ctr">
              <a:lnSpc>
                <a:spcPct val="100000"/>
              </a:lnSpc>
              <a:spcBef>
                <a:spcPts val="0"/>
              </a:spcBef>
              <a:spcAft>
                <a:spcPts val="0"/>
              </a:spcAft>
              <a:buClr>
                <a:srgbClr val="000000"/>
              </a:buClr>
              <a:buSzPts val="1400"/>
              <a:buFont typeface="Arial"/>
              <a:buNone/>
            </a:pPr>
            <a:r>
              <a:rPr lang="en-US" sz="1300">
                <a:solidFill>
                  <a:schemeClr val="dk2"/>
                </a:solidFill>
                <a:latin typeface="Microsoft YaHei"/>
                <a:ea typeface="Microsoft YaHei"/>
                <a:cs typeface="Microsoft YaHei"/>
                <a:sym typeface="Microsoft YaHei"/>
              </a:rPr>
              <a:t>- Quezon City</a:t>
            </a:r>
            <a:endParaRPr sz="1300">
              <a:solidFill>
                <a:schemeClr val="dk2"/>
              </a:solidFill>
              <a:latin typeface="Microsoft YaHei"/>
              <a:ea typeface="Microsoft YaHei"/>
              <a:cs typeface="Microsoft YaHei"/>
              <a:sym typeface="Microsoft YaHei"/>
            </a:endParaRPr>
          </a:p>
          <a:p>
            <a:pPr indent="0" lvl="0" marL="0" marR="0" rtl="0" algn="ctr">
              <a:lnSpc>
                <a:spcPct val="100000"/>
              </a:lnSpc>
              <a:spcBef>
                <a:spcPts val="0"/>
              </a:spcBef>
              <a:spcAft>
                <a:spcPts val="0"/>
              </a:spcAft>
              <a:buClr>
                <a:srgbClr val="000000"/>
              </a:buClr>
              <a:buSzPts val="1400"/>
              <a:buFont typeface="Arial"/>
              <a:buNone/>
            </a:pPr>
            <a:r>
              <a:t/>
            </a:r>
            <a:endParaRPr b="1" sz="1300">
              <a:solidFill>
                <a:schemeClr val="dk2"/>
              </a:solidFill>
              <a:latin typeface="Microsoft YaHei"/>
              <a:ea typeface="Microsoft YaHei"/>
              <a:cs typeface="Microsoft YaHei"/>
              <a:sym typeface="Microsoft YaHei"/>
            </a:endParaRPr>
          </a:p>
          <a:p>
            <a:pPr indent="0" lvl="0" marL="0" marR="0" rtl="0" algn="ctr">
              <a:lnSpc>
                <a:spcPct val="100000"/>
              </a:lnSpc>
              <a:spcBef>
                <a:spcPts val="0"/>
              </a:spcBef>
              <a:spcAft>
                <a:spcPts val="0"/>
              </a:spcAft>
              <a:buClr>
                <a:srgbClr val="000000"/>
              </a:buClr>
              <a:buSzPts val="1400"/>
              <a:buFont typeface="Arial"/>
              <a:buNone/>
            </a:pPr>
            <a:r>
              <a:rPr b="1" lang="en-US" sz="1300">
                <a:solidFill>
                  <a:schemeClr val="dk2"/>
                </a:solidFill>
                <a:latin typeface="Microsoft YaHei"/>
                <a:ea typeface="Microsoft YaHei"/>
                <a:cs typeface="Microsoft YaHei"/>
                <a:sym typeface="Microsoft YaHei"/>
              </a:rPr>
              <a:t>Position/Role:</a:t>
            </a:r>
            <a:endParaRPr b="1" sz="1300">
              <a:solidFill>
                <a:schemeClr val="dk2"/>
              </a:solidFill>
              <a:latin typeface="Microsoft YaHei"/>
              <a:ea typeface="Microsoft YaHei"/>
              <a:cs typeface="Microsoft YaHei"/>
              <a:sym typeface="Microsoft YaHei"/>
            </a:endParaRPr>
          </a:p>
          <a:p>
            <a:pPr indent="0" lvl="0" marL="0" marR="0" rtl="0" algn="ctr">
              <a:lnSpc>
                <a:spcPct val="100000"/>
              </a:lnSpc>
              <a:spcBef>
                <a:spcPts val="0"/>
              </a:spcBef>
              <a:spcAft>
                <a:spcPts val="0"/>
              </a:spcAft>
              <a:buClr>
                <a:srgbClr val="000000"/>
              </a:buClr>
              <a:buSzPts val="1400"/>
              <a:buFont typeface="Arial"/>
              <a:buNone/>
            </a:pPr>
            <a:r>
              <a:rPr lang="en-US" sz="1300">
                <a:solidFill>
                  <a:schemeClr val="dk2"/>
                </a:solidFill>
                <a:latin typeface="Microsoft YaHei"/>
                <a:ea typeface="Microsoft YaHei"/>
                <a:cs typeface="Microsoft YaHei"/>
                <a:sym typeface="Microsoft YaHei"/>
              </a:rPr>
              <a:t>Mobile Application &amp; System Integration</a:t>
            </a:r>
            <a:endParaRPr sz="1300"/>
          </a:p>
          <a:p>
            <a:pPr indent="0" lvl="0" marL="0" marR="0" rtl="0" algn="ctr">
              <a:spcBef>
                <a:spcPts val="0"/>
              </a:spcBef>
              <a:spcAft>
                <a:spcPts val="0"/>
              </a:spcAft>
              <a:buNone/>
            </a:pPr>
            <a:r>
              <a:t/>
            </a:r>
            <a:endParaRPr b="1" sz="1300">
              <a:solidFill>
                <a:schemeClr val="dk2"/>
              </a:solidFill>
              <a:latin typeface="Microsoft YaHei"/>
              <a:ea typeface="Microsoft YaHei"/>
              <a:cs typeface="Microsoft YaHei"/>
              <a:sym typeface="Microsoft YaHei"/>
            </a:endParaRPr>
          </a:p>
          <a:p>
            <a:pPr indent="0" lvl="0" marL="0" marR="0" rtl="0" algn="ctr">
              <a:spcBef>
                <a:spcPts val="0"/>
              </a:spcBef>
              <a:spcAft>
                <a:spcPts val="0"/>
              </a:spcAft>
              <a:buNone/>
            </a:pPr>
            <a:r>
              <a:rPr b="1" lang="en-US" sz="1300">
                <a:solidFill>
                  <a:schemeClr val="dk2"/>
                </a:solidFill>
                <a:latin typeface="Microsoft YaHei"/>
                <a:ea typeface="Microsoft YaHei"/>
                <a:cs typeface="Microsoft YaHei"/>
                <a:sym typeface="Microsoft YaHei"/>
              </a:rPr>
              <a:t>Background/Experienc</a:t>
            </a:r>
            <a:r>
              <a:rPr b="1" lang="en-US" sz="1300">
                <a:solidFill>
                  <a:schemeClr val="dk2"/>
                </a:solidFill>
                <a:latin typeface="Microsoft YaHei"/>
                <a:ea typeface="Microsoft YaHei"/>
                <a:cs typeface="Microsoft YaHei"/>
                <a:sym typeface="Microsoft YaHei"/>
              </a:rPr>
              <a:t>e:</a:t>
            </a:r>
            <a:endParaRPr sz="1300">
              <a:solidFill>
                <a:schemeClr val="dk2"/>
              </a:solidFill>
              <a:latin typeface="Microsoft YaHei"/>
              <a:ea typeface="Microsoft YaHei"/>
              <a:cs typeface="Microsoft YaHei"/>
              <a:sym typeface="Microsoft YaHei"/>
            </a:endParaRPr>
          </a:p>
          <a:p>
            <a:pPr indent="0" lvl="0" marL="0" rtl="0" algn="ctr">
              <a:spcBef>
                <a:spcPts val="0"/>
              </a:spcBef>
              <a:spcAft>
                <a:spcPts val="0"/>
              </a:spcAft>
              <a:buClr>
                <a:schemeClr val="dk1"/>
              </a:buClr>
              <a:buFont typeface="Arial"/>
              <a:buNone/>
            </a:pPr>
            <a:r>
              <a:rPr lang="en-US" sz="1300">
                <a:solidFill>
                  <a:schemeClr val="dk2"/>
                </a:solidFill>
                <a:latin typeface="Microsoft YaHei"/>
                <a:ea typeface="Microsoft YaHei"/>
                <a:cs typeface="Microsoft YaHei"/>
                <a:sym typeface="Microsoft YaHei"/>
              </a:rPr>
              <a:t>Undergraduate, Computer Engineering</a:t>
            </a:r>
            <a:endParaRPr sz="1300">
              <a:solidFill>
                <a:schemeClr val="dk2"/>
              </a:solidFill>
              <a:latin typeface="Microsoft YaHei"/>
              <a:ea typeface="Microsoft YaHei"/>
              <a:cs typeface="Microsoft YaHei"/>
              <a:sym typeface="Microsoft YaHei"/>
            </a:endParaRPr>
          </a:p>
          <a:p>
            <a:pPr indent="0" lvl="0" marL="0" rtl="0" algn="ctr">
              <a:spcBef>
                <a:spcPts val="0"/>
              </a:spcBef>
              <a:spcAft>
                <a:spcPts val="0"/>
              </a:spcAft>
              <a:buClr>
                <a:schemeClr val="dk1"/>
              </a:buClr>
              <a:buFont typeface="Arial"/>
              <a:buNone/>
            </a:pPr>
            <a:r>
              <a:rPr lang="en-US" sz="1300">
                <a:solidFill>
                  <a:schemeClr val="dk2"/>
                </a:solidFill>
                <a:latin typeface="Microsoft YaHei"/>
                <a:ea typeface="Microsoft YaHei"/>
                <a:cs typeface="Microsoft YaHei"/>
                <a:sym typeface="Microsoft YaHei"/>
              </a:rPr>
              <a:t>Major in Systems Administration</a:t>
            </a:r>
            <a:endParaRPr sz="1300">
              <a:solidFill>
                <a:schemeClr val="dk2"/>
              </a:solidFill>
              <a:latin typeface="Microsoft YaHei"/>
              <a:ea typeface="Microsoft YaHei"/>
              <a:cs typeface="Microsoft YaHei"/>
              <a:sym typeface="Microsoft YaHei"/>
            </a:endParaRPr>
          </a:p>
        </p:txBody>
      </p:sp>
      <p:pic>
        <p:nvPicPr>
          <p:cNvPr id="93" name="Google Shape;93;p8" title="Andrei Santos (Formal Picture).jpg"/>
          <p:cNvPicPr preferRelativeResize="0"/>
          <p:nvPr/>
        </p:nvPicPr>
        <p:blipFill>
          <a:blip r:embed="rId4">
            <a:alphaModFix/>
          </a:blip>
          <a:stretch>
            <a:fillRect/>
          </a:stretch>
        </p:blipFill>
        <p:spPr>
          <a:xfrm>
            <a:off x="8967761" y="1200620"/>
            <a:ext cx="1714500" cy="1952625"/>
          </a:xfrm>
          <a:prstGeom prst="rect">
            <a:avLst/>
          </a:prstGeom>
          <a:noFill/>
          <a:ln>
            <a:noFill/>
          </a:ln>
        </p:spPr>
      </p:pic>
      <p:pic>
        <p:nvPicPr>
          <p:cNvPr id="94" name="Google Shape;94;p8"/>
          <p:cNvPicPr preferRelativeResize="0"/>
          <p:nvPr/>
        </p:nvPicPr>
        <p:blipFill>
          <a:blip r:embed="rId5">
            <a:alphaModFix/>
          </a:blip>
          <a:stretch>
            <a:fillRect/>
          </a:stretch>
        </p:blipFill>
        <p:spPr>
          <a:xfrm>
            <a:off x="1131960" y="1287022"/>
            <a:ext cx="1862916" cy="1818636"/>
          </a:xfrm>
          <a:prstGeom prst="rect">
            <a:avLst/>
          </a:prstGeom>
          <a:noFill/>
          <a:ln>
            <a:noFill/>
          </a:ln>
        </p:spPr>
      </p:pic>
      <p:pic>
        <p:nvPicPr>
          <p:cNvPr id="95" name="Google Shape;95;p8"/>
          <p:cNvPicPr preferRelativeResize="0"/>
          <p:nvPr/>
        </p:nvPicPr>
        <p:blipFill>
          <a:blip r:embed="rId6">
            <a:alphaModFix/>
          </a:blip>
          <a:stretch>
            <a:fillRect/>
          </a:stretch>
        </p:blipFill>
        <p:spPr>
          <a:xfrm>
            <a:off x="5221413" y="1287024"/>
            <a:ext cx="1818624" cy="18186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9"/>
          <p:cNvSpPr txBox="1"/>
          <p:nvPr/>
        </p:nvSpPr>
        <p:spPr>
          <a:xfrm>
            <a:off x="1046251" y="404410"/>
            <a:ext cx="10736446" cy="3950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90000"/>
              </a:buClr>
              <a:buSzPts val="2799"/>
              <a:buFont typeface="Arial"/>
              <a:buNone/>
            </a:pPr>
            <a:r>
              <a:rPr b="1" lang="en-US" sz="2799" u="none">
                <a:solidFill>
                  <a:srgbClr val="990000"/>
                </a:solidFill>
                <a:latin typeface="Microsoft YaHei"/>
                <a:ea typeface="Microsoft YaHei"/>
                <a:cs typeface="Microsoft YaHei"/>
                <a:sym typeface="Microsoft YaHei"/>
              </a:rPr>
              <a:t>Project Introduction</a:t>
            </a:r>
            <a:endParaRPr b="1" sz="2799" u="none">
              <a:solidFill>
                <a:srgbClr val="990000"/>
              </a:solidFill>
              <a:latin typeface="Microsoft YaHei"/>
              <a:ea typeface="Microsoft YaHei"/>
              <a:cs typeface="Microsoft YaHei"/>
              <a:sym typeface="Microsoft YaHei"/>
            </a:endParaRPr>
          </a:p>
        </p:txBody>
      </p:sp>
      <p:sp>
        <p:nvSpPr>
          <p:cNvPr id="101" name="Google Shape;101;p9"/>
          <p:cNvSpPr txBox="1"/>
          <p:nvPr>
            <p:ph idx="1" type="body"/>
          </p:nvPr>
        </p:nvSpPr>
        <p:spPr>
          <a:xfrm>
            <a:off x="736625" y="1108650"/>
            <a:ext cx="10729500" cy="2568000"/>
          </a:xfrm>
          <a:prstGeom prst="rect">
            <a:avLst/>
          </a:prstGeom>
          <a:noFill/>
          <a:ln>
            <a:noFill/>
          </a:ln>
        </p:spPr>
        <p:txBody>
          <a:bodyPr anchorCtr="0" anchor="t" bIns="45700" lIns="91425" spcFirstLastPara="1" rIns="91425" wrap="square" tIns="45700">
            <a:normAutofit/>
          </a:bodyPr>
          <a:lstStyle/>
          <a:p>
            <a:pPr indent="0" lvl="0" marL="0" rtl="0" algn="just">
              <a:lnSpc>
                <a:spcPct val="115000"/>
              </a:lnSpc>
              <a:spcBef>
                <a:spcPts val="1000"/>
              </a:spcBef>
              <a:spcAft>
                <a:spcPts val="0"/>
              </a:spcAft>
              <a:buClr>
                <a:schemeClr val="dk1"/>
              </a:buClr>
              <a:buSzPts val="1100"/>
              <a:buFont typeface="Arial"/>
              <a:buNone/>
            </a:pPr>
            <a:r>
              <a:rPr b="1" i="1" lang="en-US" sz="1300"/>
              <a:t>Project Background &amp; Context</a:t>
            </a:r>
            <a:endParaRPr b="1" i="1" sz="1300"/>
          </a:p>
          <a:p>
            <a:pPr indent="400050" lvl="0" marL="0" rtl="0" algn="just">
              <a:lnSpc>
                <a:spcPct val="115000"/>
              </a:lnSpc>
              <a:spcBef>
                <a:spcPts val="1000"/>
              </a:spcBef>
              <a:spcAft>
                <a:spcPts val="0"/>
              </a:spcAft>
              <a:buNone/>
            </a:pPr>
            <a:r>
              <a:rPr lang="en-US" sz="1200"/>
              <a:t>Communication fraud has evolved from crude spam into sophisticated social engineering campaigns exploiting human psychology: trust, fear, and urgency. Modern smishing and vishing attacks impersonate legitimate institutions (banks, government agencies, healthcare providers, delivery services) with alarming authenticity.</a:t>
            </a:r>
            <a:endParaRPr sz="1200"/>
          </a:p>
          <a:p>
            <a:pPr indent="0" lvl="0" marL="0" rtl="0" algn="just">
              <a:lnSpc>
                <a:spcPct val="115000"/>
              </a:lnSpc>
              <a:spcBef>
                <a:spcPts val="1000"/>
              </a:spcBef>
              <a:spcAft>
                <a:spcPts val="0"/>
              </a:spcAft>
              <a:buClr>
                <a:schemeClr val="dk1"/>
              </a:buClr>
              <a:buSzPts val="1100"/>
              <a:buFont typeface="Arial"/>
              <a:buNone/>
            </a:pPr>
            <a:r>
              <a:rPr i="1" lang="en-US" sz="1200"/>
              <a:t>Global Crisis Statistics:</a:t>
            </a:r>
            <a:endParaRPr i="1" sz="1200"/>
          </a:p>
          <a:p>
            <a:pPr indent="-304800" lvl="0" marL="457200" rtl="0" algn="just">
              <a:lnSpc>
                <a:spcPct val="115000"/>
              </a:lnSpc>
              <a:spcBef>
                <a:spcPts val="1000"/>
              </a:spcBef>
              <a:spcAft>
                <a:spcPts val="0"/>
              </a:spcAft>
              <a:buSzPts val="1200"/>
              <a:buChar char="-"/>
            </a:pPr>
            <a:r>
              <a:rPr lang="en-US" sz="1200"/>
              <a:t>USD 2.9 billion in losses from phishing/vishing in 2023 (FBI IC3 Report)</a:t>
            </a:r>
            <a:endParaRPr sz="1200"/>
          </a:p>
          <a:p>
            <a:pPr indent="-304800" lvl="0" marL="457200" rtl="0" algn="just">
              <a:lnSpc>
                <a:spcPct val="115000"/>
              </a:lnSpc>
              <a:spcBef>
                <a:spcPts val="0"/>
              </a:spcBef>
              <a:spcAft>
                <a:spcPts val="0"/>
              </a:spcAft>
              <a:buSzPts val="1200"/>
              <a:buChar char="-"/>
            </a:pPr>
            <a:r>
              <a:rPr lang="en-US" sz="1200"/>
              <a:t>Philippines ranks among top 5 countries for mobile fraud incidents per capita</a:t>
            </a:r>
            <a:endParaRPr sz="1200"/>
          </a:p>
          <a:p>
            <a:pPr indent="-304800" lvl="0" marL="457200" rtl="0" algn="just">
              <a:lnSpc>
                <a:spcPct val="115000"/>
              </a:lnSpc>
              <a:spcBef>
                <a:spcPts val="0"/>
              </a:spcBef>
              <a:spcAft>
                <a:spcPts val="0"/>
              </a:spcAft>
              <a:buSzPts val="1200"/>
              <a:buChar char="-"/>
            </a:pPr>
            <a:r>
              <a:rPr lang="en-US" sz="1200"/>
              <a:t>37% of vishing attacks in 2024 used AI-generated voice cloning</a:t>
            </a:r>
            <a:endParaRPr sz="1200"/>
          </a:p>
          <a:p>
            <a:pPr indent="-304800" lvl="0" marL="457200" rtl="0" algn="just">
              <a:lnSpc>
                <a:spcPct val="115000"/>
              </a:lnSpc>
              <a:spcBef>
                <a:spcPts val="0"/>
              </a:spcBef>
              <a:spcAft>
                <a:spcPts val="0"/>
              </a:spcAft>
              <a:buSzPts val="1200"/>
              <a:buChar char="-"/>
            </a:pPr>
            <a:r>
              <a:rPr lang="en-US" sz="1200"/>
              <a:t>65% of victims are elderly or financially vulnerable individuals</a:t>
            </a:r>
            <a:endParaRPr sz="1200"/>
          </a:p>
          <a:p>
            <a:pPr indent="-304800" lvl="0" marL="457200" rtl="0" algn="just">
              <a:lnSpc>
                <a:spcPct val="115000"/>
              </a:lnSpc>
              <a:spcBef>
                <a:spcPts val="0"/>
              </a:spcBef>
              <a:spcAft>
                <a:spcPts val="0"/>
              </a:spcAft>
              <a:buSzPts val="1200"/>
              <a:buChar char="-"/>
            </a:pPr>
            <a:r>
              <a:rPr lang="en-US" sz="1200"/>
              <a:t>Small businesses lose average USD 75,000 per successful fraud incident</a:t>
            </a:r>
            <a:endParaRPr sz="1200"/>
          </a:p>
        </p:txBody>
      </p:sp>
      <p:sp>
        <p:nvSpPr>
          <p:cNvPr id="102" name="Google Shape;102;p9"/>
          <p:cNvSpPr/>
          <p:nvPr/>
        </p:nvSpPr>
        <p:spPr>
          <a:xfrm>
            <a:off x="0" y="6435634"/>
            <a:ext cx="12192000" cy="422366"/>
          </a:xfrm>
          <a:prstGeom prst="rect">
            <a:avLst/>
          </a:prstGeom>
          <a:solidFill>
            <a:srgbClr val="D7E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 name="Google Shape;103;p9"/>
          <p:cNvSpPr txBox="1"/>
          <p:nvPr>
            <p:ph idx="1" type="body"/>
          </p:nvPr>
        </p:nvSpPr>
        <p:spPr>
          <a:xfrm>
            <a:off x="6298340" y="2014934"/>
            <a:ext cx="5407500" cy="16095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000"/>
              </a:spcBef>
              <a:spcAft>
                <a:spcPts val="0"/>
              </a:spcAft>
              <a:buClr>
                <a:schemeClr val="dk1"/>
              </a:buClr>
              <a:buSzPts val="1100"/>
              <a:buFont typeface="Arial"/>
              <a:buNone/>
            </a:pPr>
            <a:r>
              <a:rPr i="1" lang="en-US" sz="1200"/>
              <a:t>Regional Context - Philippines &amp; Southeast Asia:</a:t>
            </a:r>
            <a:endParaRPr i="1" sz="1200"/>
          </a:p>
          <a:p>
            <a:pPr indent="-304800" lvl="0" marL="457200" rtl="0" algn="just">
              <a:lnSpc>
                <a:spcPct val="115000"/>
              </a:lnSpc>
              <a:spcBef>
                <a:spcPts val="1000"/>
              </a:spcBef>
              <a:spcAft>
                <a:spcPts val="0"/>
              </a:spcAft>
              <a:buSzPts val="1200"/>
              <a:buChar char="-"/>
            </a:pPr>
            <a:r>
              <a:rPr lang="en-US" sz="1200"/>
              <a:t>Over 170 million mobile subscriptions (population: 115 million)</a:t>
            </a:r>
            <a:endParaRPr sz="1200"/>
          </a:p>
          <a:p>
            <a:pPr indent="-304800" lvl="0" marL="457200" rtl="0" algn="just">
              <a:lnSpc>
                <a:spcPct val="115000"/>
              </a:lnSpc>
              <a:spcBef>
                <a:spcPts val="0"/>
              </a:spcBef>
              <a:spcAft>
                <a:spcPts val="0"/>
              </a:spcAft>
              <a:buSzPts val="1200"/>
              <a:buChar char="-"/>
            </a:pPr>
            <a:r>
              <a:rPr lang="en-US" sz="1200"/>
              <a:t>2.4 billion SMS messages sent daily (highest globally)</a:t>
            </a:r>
            <a:endParaRPr sz="1200"/>
          </a:p>
          <a:p>
            <a:pPr indent="-304800" lvl="0" marL="457200" rtl="0" algn="just">
              <a:lnSpc>
                <a:spcPct val="115000"/>
              </a:lnSpc>
              <a:spcBef>
                <a:spcPts val="0"/>
              </a:spcBef>
              <a:spcAft>
                <a:spcPts val="0"/>
              </a:spcAft>
              <a:buSzPts val="1200"/>
              <a:buChar char="-"/>
            </a:pPr>
            <a:r>
              <a:rPr lang="en-US" sz="1200"/>
              <a:t>Rapid shift to mobile banking and e-wallets creates new fraud opportunities</a:t>
            </a:r>
            <a:endParaRPr sz="1200"/>
          </a:p>
          <a:p>
            <a:pPr indent="-304800" lvl="0" marL="457200" rtl="0" algn="just">
              <a:lnSpc>
                <a:spcPct val="115000"/>
              </a:lnSpc>
              <a:spcBef>
                <a:spcPts val="0"/>
              </a:spcBef>
              <a:spcAft>
                <a:spcPts val="0"/>
              </a:spcAft>
              <a:buSzPts val="1200"/>
              <a:buChar char="-"/>
            </a:pPr>
            <a:r>
              <a:rPr lang="en-US" sz="1200"/>
              <a:t>Mix of English, Filipino, and Tagalog complicates detection</a:t>
            </a:r>
            <a:endParaRPr sz="1200"/>
          </a:p>
          <a:p>
            <a:pPr indent="-304800" lvl="0" marL="457200" rtl="0" algn="just">
              <a:lnSpc>
                <a:spcPct val="115000"/>
              </a:lnSpc>
              <a:spcBef>
                <a:spcPts val="0"/>
              </a:spcBef>
              <a:spcAft>
                <a:spcPts val="0"/>
              </a:spcAft>
              <a:buSzPts val="1200"/>
              <a:buChar char="-"/>
            </a:pPr>
            <a:r>
              <a:rPr lang="en-US" sz="1200"/>
              <a:t>Limited cybersecurity awareness among general population</a:t>
            </a:r>
            <a:endParaRPr sz="1200"/>
          </a:p>
        </p:txBody>
      </p:sp>
      <p:sp>
        <p:nvSpPr>
          <p:cNvPr id="104" name="Google Shape;104;p9"/>
          <p:cNvSpPr txBox="1"/>
          <p:nvPr>
            <p:ph idx="1" type="body"/>
          </p:nvPr>
        </p:nvSpPr>
        <p:spPr>
          <a:xfrm>
            <a:off x="516785" y="3582077"/>
            <a:ext cx="10729500" cy="650100"/>
          </a:xfrm>
          <a:prstGeom prst="rect">
            <a:avLst/>
          </a:prstGeom>
          <a:noFill/>
          <a:ln>
            <a:noFill/>
          </a:ln>
        </p:spPr>
        <p:txBody>
          <a:bodyPr anchorCtr="0" anchor="t" bIns="45700" lIns="91425" spcFirstLastPara="1" rIns="91425" wrap="square" tIns="45700">
            <a:normAutofit/>
          </a:bodyPr>
          <a:lstStyle/>
          <a:p>
            <a:pPr indent="0" lvl="0" marL="0" rtl="0" algn="just">
              <a:lnSpc>
                <a:spcPct val="115000"/>
              </a:lnSpc>
              <a:spcBef>
                <a:spcPts val="1000"/>
              </a:spcBef>
              <a:spcAft>
                <a:spcPts val="0"/>
              </a:spcAft>
              <a:buNone/>
            </a:pPr>
            <a:r>
              <a:rPr b="1" i="1" lang="en-US" sz="1300"/>
              <a:t>Problems Solved:</a:t>
            </a:r>
            <a:endParaRPr b="1" i="1" sz="1300"/>
          </a:p>
          <a:p>
            <a:pPr indent="0" lvl="0" marL="0" rtl="0" algn="just">
              <a:lnSpc>
                <a:spcPct val="115000"/>
              </a:lnSpc>
              <a:spcBef>
                <a:spcPts val="1000"/>
              </a:spcBef>
              <a:spcAft>
                <a:spcPts val="0"/>
              </a:spcAft>
              <a:buNone/>
            </a:pPr>
            <a:r>
              <a:rPr lang="en-US" sz="1200"/>
              <a:t>Critical Gaps in Existing Solutions:</a:t>
            </a:r>
            <a:endParaRPr sz="1200"/>
          </a:p>
        </p:txBody>
      </p:sp>
      <p:graphicFrame>
        <p:nvGraphicFramePr>
          <p:cNvPr id="105" name="Google Shape;105;p9"/>
          <p:cNvGraphicFramePr/>
          <p:nvPr/>
        </p:nvGraphicFramePr>
        <p:xfrm>
          <a:off x="637216" y="4348600"/>
          <a:ext cx="3000000" cy="3000000"/>
        </p:xfrm>
        <a:graphic>
          <a:graphicData uri="http://schemas.openxmlformats.org/drawingml/2006/table">
            <a:tbl>
              <a:tblPr>
                <a:noFill/>
                <a:tableStyleId>{DC457DB7-4CD4-488C-9992-266D6169CF9F}</a:tableStyleId>
              </a:tblPr>
              <a:tblGrid>
                <a:gridCol w="2770475"/>
                <a:gridCol w="4144625"/>
              </a:tblGrid>
              <a:tr h="188375">
                <a:tc>
                  <a:txBody>
                    <a:bodyPr/>
                    <a:lstStyle/>
                    <a:p>
                      <a:pPr indent="0" lvl="0" marL="0" rtl="0" algn="ctr">
                        <a:spcBef>
                          <a:spcPts val="0"/>
                        </a:spcBef>
                        <a:spcAft>
                          <a:spcPts val="0"/>
                        </a:spcAft>
                        <a:buNone/>
                      </a:pPr>
                      <a:r>
                        <a:rPr b="1" lang="en-US" sz="1200">
                          <a:latin typeface="Calibri"/>
                          <a:ea typeface="Calibri"/>
                          <a:cs typeface="Calibri"/>
                          <a:sym typeface="Calibri"/>
                        </a:rPr>
                        <a:t>Current Approach</a:t>
                      </a:r>
                      <a:endParaRPr b="1" sz="1200">
                        <a:latin typeface="Calibri"/>
                        <a:ea typeface="Calibri"/>
                        <a:cs typeface="Calibri"/>
                        <a:sym typeface="Calibri"/>
                      </a:endParaRPr>
                    </a:p>
                  </a:txBody>
                  <a:tcPr marT="91425" marB="91425" marR="91425" marL="91425"/>
                </a:tc>
                <a:tc>
                  <a:txBody>
                    <a:bodyPr/>
                    <a:lstStyle/>
                    <a:p>
                      <a:pPr indent="0" lvl="0" marL="0" rtl="0" algn="ctr">
                        <a:spcBef>
                          <a:spcPts val="0"/>
                        </a:spcBef>
                        <a:spcAft>
                          <a:spcPts val="0"/>
                        </a:spcAft>
                        <a:buNone/>
                      </a:pPr>
                      <a:r>
                        <a:rPr b="1" lang="en-US" sz="1200">
                          <a:latin typeface="Calibri"/>
                          <a:ea typeface="Calibri"/>
                          <a:cs typeface="Calibri"/>
                          <a:sym typeface="Calibri"/>
                        </a:rPr>
                        <a:t>Why It Fails</a:t>
                      </a:r>
                      <a:endParaRPr b="1" sz="1200">
                        <a:latin typeface="Calibri"/>
                        <a:ea typeface="Calibri"/>
                        <a:cs typeface="Calibri"/>
                        <a:sym typeface="Calibri"/>
                      </a:endParaRPr>
                    </a:p>
                  </a:txBody>
                  <a:tcPr marT="91425" marB="91425" marR="91425" marL="91425"/>
                </a:tc>
              </a:tr>
              <a:tr h="188375">
                <a:tc>
                  <a:txBody>
                    <a:bodyPr/>
                    <a:lstStyle/>
                    <a:p>
                      <a:pPr indent="0" lvl="0" marL="0" rtl="0" algn="l">
                        <a:spcBef>
                          <a:spcPts val="0"/>
                        </a:spcBef>
                        <a:spcAft>
                          <a:spcPts val="0"/>
                        </a:spcAft>
                        <a:buNone/>
                      </a:pPr>
                      <a:r>
                        <a:rPr lang="en-US" sz="1200">
                          <a:latin typeface="Calibri"/>
                          <a:ea typeface="Calibri"/>
                          <a:cs typeface="Calibri"/>
                          <a:sym typeface="Calibri"/>
                        </a:rPr>
                        <a:t>Keyword blacklists and pattern matching</a:t>
                      </a:r>
                      <a:endParaRPr sz="12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200">
                          <a:latin typeface="Calibri"/>
                          <a:ea typeface="Calibri"/>
                          <a:cs typeface="Calibri"/>
                          <a:sym typeface="Calibri"/>
                        </a:rPr>
                        <a:t>Cannot understand context, intent, or semantic manipulation</a:t>
                      </a:r>
                      <a:endParaRPr sz="1200">
                        <a:latin typeface="Calibri"/>
                        <a:ea typeface="Calibri"/>
                        <a:cs typeface="Calibri"/>
                        <a:sym typeface="Calibri"/>
                      </a:endParaRPr>
                    </a:p>
                  </a:txBody>
                  <a:tcPr marT="91425" marB="91425" marR="91425" marL="91425"/>
                </a:tc>
              </a:tr>
              <a:tr h="188375">
                <a:tc>
                  <a:txBody>
                    <a:bodyPr/>
                    <a:lstStyle/>
                    <a:p>
                      <a:pPr indent="0" lvl="0" marL="0" rtl="0" algn="l">
                        <a:spcBef>
                          <a:spcPts val="0"/>
                        </a:spcBef>
                        <a:spcAft>
                          <a:spcPts val="0"/>
                        </a:spcAft>
                        <a:buNone/>
                      </a:pPr>
                      <a:r>
                        <a:rPr lang="en-US" sz="1200">
                          <a:latin typeface="Calibri"/>
                          <a:ea typeface="Calibri"/>
                          <a:cs typeface="Calibri"/>
                          <a:sym typeface="Calibri"/>
                        </a:rPr>
                        <a:t>Crowdsourced phone number blacklists</a:t>
                      </a:r>
                      <a:endParaRPr sz="12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200">
                          <a:latin typeface="Calibri"/>
                          <a:ea typeface="Calibri"/>
                          <a:cs typeface="Calibri"/>
                          <a:sym typeface="Calibri"/>
                        </a:rPr>
                        <a:t>Scammers change numbers instantly; reactive not proactive</a:t>
                      </a:r>
                      <a:endParaRPr sz="1200">
                        <a:latin typeface="Calibri"/>
                        <a:ea typeface="Calibri"/>
                        <a:cs typeface="Calibri"/>
                        <a:sym typeface="Calibri"/>
                      </a:endParaRPr>
                    </a:p>
                  </a:txBody>
                  <a:tcPr marT="91425" marB="91425" marR="91425" marL="91425"/>
                </a:tc>
              </a:tr>
              <a:tr h="188375">
                <a:tc>
                  <a:txBody>
                    <a:bodyPr/>
                    <a:lstStyle/>
                    <a:p>
                      <a:pPr indent="0" lvl="0" marL="0" rtl="0" algn="l">
                        <a:spcBef>
                          <a:spcPts val="0"/>
                        </a:spcBef>
                        <a:spcAft>
                          <a:spcPts val="0"/>
                        </a:spcAft>
                        <a:buNone/>
                      </a:pPr>
                      <a:r>
                        <a:rPr lang="en-US" sz="1200">
                          <a:latin typeface="Calibri"/>
                          <a:ea typeface="Calibri"/>
                          <a:cs typeface="Calibri"/>
                          <a:sym typeface="Calibri"/>
                        </a:rPr>
                        <a:t>No voice call analysis</a:t>
                      </a:r>
                      <a:endParaRPr sz="12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200">
                          <a:latin typeface="Calibri"/>
                          <a:ea typeface="Calibri"/>
                          <a:cs typeface="Calibri"/>
                          <a:sym typeface="Calibri"/>
                        </a:rPr>
                        <a:t>Vishing attacks go undetected until damage is done</a:t>
                      </a:r>
                      <a:endParaRPr sz="1200">
                        <a:latin typeface="Calibri"/>
                        <a:ea typeface="Calibri"/>
                        <a:cs typeface="Calibri"/>
                        <a:sym typeface="Calibri"/>
                      </a:endParaRPr>
                    </a:p>
                  </a:txBody>
                  <a:tcPr marT="91425" marB="91425" marR="91425" marL="91425"/>
                </a:tc>
              </a:tr>
              <a:tr h="188375">
                <a:tc>
                  <a:txBody>
                    <a:bodyPr/>
                    <a:lstStyle/>
                    <a:p>
                      <a:pPr indent="0" lvl="0" marL="0" rtl="0" algn="l">
                        <a:spcBef>
                          <a:spcPts val="0"/>
                        </a:spcBef>
                        <a:spcAft>
                          <a:spcPts val="0"/>
                        </a:spcAft>
                        <a:buNone/>
                      </a:pPr>
                      <a:r>
                        <a:rPr lang="en-US" sz="1200">
                          <a:latin typeface="Calibri"/>
                          <a:ea typeface="Calibri"/>
                          <a:cs typeface="Calibri"/>
                          <a:sym typeface="Calibri"/>
                        </a:rPr>
                        <a:t>Network-level filtering after delivery</a:t>
                      </a:r>
                      <a:endParaRPr sz="12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200">
                          <a:latin typeface="Calibri"/>
                          <a:ea typeface="Calibri"/>
                          <a:cs typeface="Calibri"/>
                          <a:sym typeface="Calibri"/>
                        </a:rPr>
                        <a:t>Users already exposed to fraudulent content before analysis</a:t>
                      </a:r>
                      <a:endParaRPr sz="1200">
                        <a:latin typeface="Calibri"/>
                        <a:ea typeface="Calibri"/>
                        <a:cs typeface="Calibri"/>
                        <a:sym typeface="Calibri"/>
                      </a:endParaRPr>
                    </a:p>
                  </a:txBody>
                  <a:tcPr marT="91425" marB="91425" marR="91425" marL="91425"/>
                </a:tc>
              </a:tr>
            </a:tbl>
          </a:graphicData>
        </a:graphic>
      </p:graphicFrame>
      <p:sp>
        <p:nvSpPr>
          <p:cNvPr id="106" name="Google Shape;106;p9"/>
          <p:cNvSpPr txBox="1"/>
          <p:nvPr>
            <p:ph idx="1" type="body"/>
          </p:nvPr>
        </p:nvSpPr>
        <p:spPr>
          <a:xfrm>
            <a:off x="7649460" y="3625850"/>
            <a:ext cx="4082700" cy="29145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400"/>
              </a:spcBef>
              <a:spcAft>
                <a:spcPts val="0"/>
              </a:spcAft>
              <a:buNone/>
            </a:pPr>
            <a:r>
              <a:rPr b="1" i="1" lang="en-US" sz="1300"/>
              <a:t>Target Users</a:t>
            </a:r>
            <a:endParaRPr b="1" i="1" sz="1300"/>
          </a:p>
          <a:p>
            <a:pPr indent="-304800" lvl="0" marL="457200" rtl="0" algn="just">
              <a:lnSpc>
                <a:spcPct val="115000"/>
              </a:lnSpc>
              <a:spcBef>
                <a:spcPts val="1200"/>
              </a:spcBef>
              <a:spcAft>
                <a:spcPts val="0"/>
              </a:spcAft>
              <a:buSzPts val="1200"/>
              <a:buChar char="-"/>
            </a:pPr>
            <a:r>
              <a:rPr b="1" lang="en-US" sz="1200"/>
              <a:t>Primary Users:</a:t>
            </a:r>
            <a:r>
              <a:rPr lang="en-US" sz="1200"/>
              <a:t> Individuals in high-risk social settings - primarily young adults vulnerable to communication fraud</a:t>
            </a:r>
            <a:endParaRPr sz="1200"/>
          </a:p>
          <a:p>
            <a:pPr indent="-304800" lvl="0" marL="457200" rtl="0" algn="just">
              <a:lnSpc>
                <a:spcPct val="115000"/>
              </a:lnSpc>
              <a:spcBef>
                <a:spcPts val="0"/>
              </a:spcBef>
              <a:spcAft>
                <a:spcPts val="0"/>
              </a:spcAft>
              <a:buSzPts val="1200"/>
              <a:buChar char="-"/>
            </a:pPr>
            <a:r>
              <a:rPr b="1" lang="en-US" sz="1200"/>
              <a:t>Secondary Users:</a:t>
            </a:r>
            <a:r>
              <a:rPr lang="en-US" sz="1200"/>
              <a:t> Law enforcement, organizations, and public health groups requiring reliable, aggregated data to improve policy and resource allocation</a:t>
            </a:r>
            <a:endParaRPr sz="1200"/>
          </a:p>
          <a:p>
            <a:pPr indent="-304800" lvl="0" marL="457200" rtl="0" algn="just">
              <a:lnSpc>
                <a:spcPct val="115000"/>
              </a:lnSpc>
              <a:spcBef>
                <a:spcPts val="0"/>
              </a:spcBef>
              <a:spcAft>
                <a:spcPts val="0"/>
              </a:spcAft>
              <a:buSzPts val="1200"/>
              <a:buChar char="-"/>
            </a:pPr>
            <a:r>
              <a:rPr b="1" lang="en-US" sz="1200"/>
              <a:t>Enterprise Users:</a:t>
            </a:r>
            <a:r>
              <a:rPr lang="en-US" sz="1200"/>
              <a:t> Businesses seeking to protect employees and customers from fraud attacks</a:t>
            </a:r>
            <a:endParaRPr sz="1200"/>
          </a:p>
          <a:p>
            <a:pPr indent="-304800" lvl="0" marL="457200" rtl="0" algn="just">
              <a:lnSpc>
                <a:spcPct val="115000"/>
              </a:lnSpc>
              <a:spcBef>
                <a:spcPts val="0"/>
              </a:spcBef>
              <a:spcAft>
                <a:spcPts val="0"/>
              </a:spcAft>
              <a:buSzPts val="1200"/>
              <a:buChar char="-"/>
            </a:pPr>
            <a:r>
              <a:rPr b="1" lang="en-US" sz="1200"/>
              <a:t>Telecom Providers:</a:t>
            </a:r>
            <a:r>
              <a:rPr lang="en-US" sz="1200"/>
              <a:t> Network operators looking to enhance security offerings</a:t>
            </a:r>
            <a:endParaRPr i="1"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0"/>
          <p:cNvSpPr txBox="1"/>
          <p:nvPr/>
        </p:nvSpPr>
        <p:spPr>
          <a:xfrm>
            <a:off x="1046251" y="404410"/>
            <a:ext cx="10736446" cy="3950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90000"/>
              </a:buClr>
              <a:buSzPts val="2799"/>
              <a:buFont typeface="Arial"/>
              <a:buNone/>
            </a:pPr>
            <a:r>
              <a:rPr b="1" lang="en-US" sz="2799" u="none">
                <a:solidFill>
                  <a:srgbClr val="990000"/>
                </a:solidFill>
                <a:latin typeface="Microsoft YaHei"/>
                <a:ea typeface="Microsoft YaHei"/>
                <a:cs typeface="Microsoft YaHei"/>
                <a:sym typeface="Microsoft YaHei"/>
              </a:rPr>
              <a:t>Technical Architectures</a:t>
            </a:r>
            <a:endParaRPr b="1" sz="2000" u="none">
              <a:solidFill>
                <a:srgbClr val="990000"/>
              </a:solidFill>
              <a:latin typeface="Microsoft YaHei"/>
              <a:ea typeface="Microsoft YaHei"/>
              <a:cs typeface="Microsoft YaHei"/>
              <a:sym typeface="Microsoft YaHei"/>
            </a:endParaRPr>
          </a:p>
        </p:txBody>
      </p:sp>
      <p:sp>
        <p:nvSpPr>
          <p:cNvPr id="113" name="Google Shape;113;p10"/>
          <p:cNvSpPr txBox="1"/>
          <p:nvPr>
            <p:ph idx="1" type="body"/>
          </p:nvPr>
        </p:nvSpPr>
        <p:spPr>
          <a:xfrm>
            <a:off x="110454" y="1152808"/>
            <a:ext cx="10729500" cy="3576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1600"/>
              <a:buNone/>
            </a:pPr>
            <a:r>
              <a:rPr b="1" lang="en-US" sz="1600" u="none"/>
              <a:t>Solution </a:t>
            </a:r>
            <a:r>
              <a:rPr b="1" lang="en-US" sz="1600"/>
              <a:t>D</a:t>
            </a:r>
            <a:r>
              <a:rPr b="1" lang="en-US" sz="1600" u="none"/>
              <a:t>eployment Architecture </a:t>
            </a:r>
            <a:r>
              <a:rPr b="1" lang="en-US" sz="1600"/>
              <a:t>D</a:t>
            </a:r>
            <a:r>
              <a:rPr b="1" lang="en-US" sz="1600" u="none"/>
              <a:t>iagram</a:t>
            </a:r>
            <a:endParaRPr/>
          </a:p>
        </p:txBody>
      </p:sp>
      <p:sp>
        <p:nvSpPr>
          <p:cNvPr id="114" name="Google Shape;114;p10"/>
          <p:cNvSpPr/>
          <p:nvPr/>
        </p:nvSpPr>
        <p:spPr>
          <a:xfrm>
            <a:off x="0" y="6435634"/>
            <a:ext cx="12192000" cy="422366"/>
          </a:xfrm>
          <a:prstGeom prst="rect">
            <a:avLst/>
          </a:prstGeom>
          <a:solidFill>
            <a:srgbClr val="D7E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A5A5A5"/>
              </a:solidFill>
              <a:latin typeface="Arial"/>
              <a:ea typeface="Arial"/>
              <a:cs typeface="Arial"/>
              <a:sym typeface="Arial"/>
            </a:endParaRPr>
          </a:p>
        </p:txBody>
      </p:sp>
      <p:pic>
        <p:nvPicPr>
          <p:cNvPr id="115" name="Google Shape;115;p10" title="Blank diagram.png"/>
          <p:cNvPicPr preferRelativeResize="0"/>
          <p:nvPr/>
        </p:nvPicPr>
        <p:blipFill>
          <a:blip r:embed="rId3">
            <a:alphaModFix/>
          </a:blip>
          <a:stretch>
            <a:fillRect/>
          </a:stretch>
        </p:blipFill>
        <p:spPr>
          <a:xfrm>
            <a:off x="144625" y="1532596"/>
            <a:ext cx="7859917" cy="4712861"/>
          </a:xfrm>
          <a:prstGeom prst="rect">
            <a:avLst/>
          </a:prstGeom>
          <a:noFill/>
          <a:ln>
            <a:noFill/>
          </a:ln>
        </p:spPr>
      </p:pic>
      <p:sp>
        <p:nvSpPr>
          <p:cNvPr id="116" name="Google Shape;116;p10"/>
          <p:cNvSpPr/>
          <p:nvPr/>
        </p:nvSpPr>
        <p:spPr>
          <a:xfrm>
            <a:off x="7966475" y="1152800"/>
            <a:ext cx="4127100" cy="5282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rPr b="1" lang="en-US" sz="1600" u="none">
                <a:solidFill>
                  <a:schemeClr val="dk1"/>
                </a:solidFill>
                <a:latin typeface="Calibri"/>
                <a:ea typeface="Calibri"/>
                <a:cs typeface="Calibri"/>
                <a:sym typeface="Calibri"/>
              </a:rPr>
              <a:t>Service Description</a:t>
            </a:r>
            <a:endParaRPr b="1" sz="1600">
              <a:solidFill>
                <a:schemeClr val="dk1"/>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lang="en-US" sz="1100">
                <a:solidFill>
                  <a:schemeClr val="dk1"/>
                </a:solidFill>
                <a:latin typeface="Calibri"/>
                <a:ea typeface="Calibri"/>
                <a:cs typeface="Calibri"/>
                <a:sym typeface="Calibri"/>
              </a:rPr>
              <a:t>SecureCom deploys dual AI fraud detection models using Huawei Cloud OBS and Flask-based APIs to analyze SMS and voice transcripts. The system ensures secure, scalable, and real-time protection against communication fraud.</a:t>
            </a:r>
            <a:endParaRPr sz="11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AutoNum type="arabicPeriod"/>
            </a:pPr>
            <a:r>
              <a:rPr lang="en-US" sz="1100">
                <a:solidFill>
                  <a:schemeClr val="dk1"/>
                </a:solidFill>
                <a:latin typeface="Calibri"/>
                <a:ea typeface="Calibri"/>
                <a:cs typeface="Calibri"/>
                <a:sym typeface="Calibri"/>
              </a:rPr>
              <a:t>The latest SMS and voice models are stored and versioned in </a:t>
            </a:r>
            <a:r>
              <a:rPr b="1" lang="en-US" sz="1100">
                <a:solidFill>
                  <a:schemeClr val="dk1"/>
                </a:solidFill>
                <a:latin typeface="Calibri"/>
                <a:ea typeface="Calibri"/>
                <a:cs typeface="Calibri"/>
                <a:sym typeface="Calibri"/>
              </a:rPr>
              <a:t>Huawei Cloud OBS</a:t>
            </a:r>
            <a:r>
              <a:rPr lang="en-US" sz="1100">
                <a:solidFill>
                  <a:schemeClr val="dk1"/>
                </a:solidFill>
                <a:latin typeface="Calibri"/>
                <a:ea typeface="Calibri"/>
                <a:cs typeface="Calibri"/>
                <a:sym typeface="Calibri"/>
              </a:rPr>
              <a:t>, automatically synced to Flask API servers hosted on </a:t>
            </a:r>
            <a:r>
              <a:rPr b="1" lang="en-US" sz="1100">
                <a:solidFill>
                  <a:schemeClr val="dk1"/>
                </a:solidFill>
                <a:latin typeface="Calibri"/>
                <a:ea typeface="Calibri"/>
                <a:cs typeface="Calibri"/>
                <a:sym typeface="Calibri"/>
              </a:rPr>
              <a:t>Huawei ECS</a:t>
            </a:r>
            <a:r>
              <a:rPr lang="en-US"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100">
                <a:solidFill>
                  <a:schemeClr val="dk1"/>
                </a:solidFill>
                <a:latin typeface="Calibri"/>
                <a:ea typeface="Calibri"/>
                <a:cs typeface="Calibri"/>
                <a:sym typeface="Calibri"/>
              </a:rPr>
              <a:t>The </a:t>
            </a:r>
            <a:r>
              <a:rPr b="1" lang="en-US" sz="1100">
                <a:solidFill>
                  <a:schemeClr val="dk1"/>
                </a:solidFill>
                <a:latin typeface="Calibri"/>
                <a:ea typeface="Calibri"/>
                <a:cs typeface="Calibri"/>
                <a:sym typeface="Calibri"/>
              </a:rPr>
              <a:t>Load Balancer (ELB)</a:t>
            </a:r>
            <a:r>
              <a:rPr lang="en-US" sz="1100">
                <a:solidFill>
                  <a:schemeClr val="dk1"/>
                </a:solidFill>
                <a:latin typeface="Calibri"/>
                <a:ea typeface="Calibri"/>
                <a:cs typeface="Calibri"/>
                <a:sym typeface="Calibri"/>
              </a:rPr>
              <a:t> distributes incoming HTTPS prediction requests from the </a:t>
            </a:r>
            <a:r>
              <a:rPr b="1" lang="en-US" sz="1100">
                <a:solidFill>
                  <a:schemeClr val="dk1"/>
                </a:solidFill>
                <a:latin typeface="Calibri"/>
                <a:ea typeface="Calibri"/>
                <a:cs typeface="Calibri"/>
                <a:sym typeface="Calibri"/>
              </a:rPr>
              <a:t>Flutter mobile app</a:t>
            </a:r>
            <a:r>
              <a:rPr lang="en-US" sz="1100">
                <a:solidFill>
                  <a:schemeClr val="dk1"/>
                </a:solidFill>
                <a:latin typeface="Calibri"/>
                <a:ea typeface="Calibri"/>
                <a:cs typeface="Calibri"/>
                <a:sym typeface="Calibri"/>
              </a:rPr>
              <a:t> to available Flask instances.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100">
                <a:solidFill>
                  <a:schemeClr val="dk1"/>
                </a:solidFill>
                <a:latin typeface="Calibri"/>
                <a:ea typeface="Calibri"/>
                <a:cs typeface="Calibri"/>
                <a:sym typeface="Calibri"/>
              </a:rPr>
              <a:t>The </a:t>
            </a:r>
            <a:r>
              <a:rPr b="1" lang="en-US" sz="1100">
                <a:solidFill>
                  <a:schemeClr val="dk1"/>
                </a:solidFill>
                <a:latin typeface="Calibri"/>
                <a:ea typeface="Calibri"/>
                <a:cs typeface="Calibri"/>
                <a:sym typeface="Calibri"/>
              </a:rPr>
              <a:t>mobile app</a:t>
            </a:r>
            <a:r>
              <a:rPr lang="en-US" sz="1100">
                <a:solidFill>
                  <a:schemeClr val="dk1"/>
                </a:solidFill>
                <a:latin typeface="Calibri"/>
                <a:ea typeface="Calibri"/>
                <a:cs typeface="Calibri"/>
                <a:sym typeface="Calibri"/>
              </a:rPr>
              <a:t> authenticates users via </a:t>
            </a:r>
            <a:r>
              <a:rPr b="1" lang="en-US" sz="1100">
                <a:solidFill>
                  <a:schemeClr val="dk1"/>
                </a:solidFill>
                <a:latin typeface="Calibri"/>
                <a:ea typeface="Calibri"/>
                <a:cs typeface="Calibri"/>
                <a:sym typeface="Calibri"/>
              </a:rPr>
              <a:t>Firebase</a:t>
            </a:r>
            <a:r>
              <a:rPr lang="en-US" sz="1100">
                <a:solidFill>
                  <a:schemeClr val="dk1"/>
                </a:solidFill>
                <a:latin typeface="Calibri"/>
                <a:ea typeface="Calibri"/>
                <a:cs typeface="Calibri"/>
                <a:sym typeface="Calibri"/>
              </a:rPr>
              <a:t>, then submits SMS or voice transcripts through secured API endpoints (/predict_sms, /predict_calls).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100">
                <a:solidFill>
                  <a:schemeClr val="dk1"/>
                </a:solidFill>
                <a:latin typeface="Calibri"/>
                <a:ea typeface="Calibri"/>
                <a:cs typeface="Calibri"/>
                <a:sym typeface="Calibri"/>
              </a:rPr>
              <a:t>The </a:t>
            </a:r>
            <a:r>
              <a:rPr b="1" lang="en-US" sz="1100">
                <a:solidFill>
                  <a:schemeClr val="dk1"/>
                </a:solidFill>
                <a:latin typeface="Calibri"/>
                <a:ea typeface="Calibri"/>
                <a:cs typeface="Calibri"/>
                <a:sym typeface="Calibri"/>
              </a:rPr>
              <a:t>Flask API</a:t>
            </a:r>
            <a:r>
              <a:rPr lang="en-US" sz="1100">
                <a:solidFill>
                  <a:schemeClr val="dk1"/>
                </a:solidFill>
                <a:latin typeface="Calibri"/>
                <a:ea typeface="Calibri"/>
                <a:cs typeface="Calibri"/>
                <a:sym typeface="Calibri"/>
              </a:rPr>
              <a:t> verifies the request, loads the appropriate model from local cache or OBS, and performs inference using </a:t>
            </a:r>
            <a:r>
              <a:rPr b="1" lang="en-US" sz="1100">
                <a:solidFill>
                  <a:schemeClr val="dk1"/>
                </a:solidFill>
                <a:latin typeface="Calibri"/>
                <a:ea typeface="Calibri"/>
                <a:cs typeface="Calibri"/>
                <a:sym typeface="Calibri"/>
              </a:rPr>
              <a:t>PyTorch</a:t>
            </a:r>
            <a:r>
              <a:rPr lang="en-US"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100">
                <a:solidFill>
                  <a:schemeClr val="dk1"/>
                </a:solidFill>
                <a:latin typeface="Calibri"/>
                <a:ea typeface="Calibri"/>
                <a:cs typeface="Calibri"/>
                <a:sym typeface="Calibri"/>
              </a:rPr>
              <a:t>The </a:t>
            </a:r>
            <a:r>
              <a:rPr b="1" lang="en-US" sz="1100">
                <a:solidFill>
                  <a:schemeClr val="dk1"/>
                </a:solidFill>
                <a:latin typeface="Calibri"/>
                <a:ea typeface="Calibri"/>
                <a:cs typeface="Calibri"/>
                <a:sym typeface="Calibri"/>
              </a:rPr>
              <a:t>classification result</a:t>
            </a:r>
            <a:r>
              <a:rPr lang="en-US" sz="1100">
                <a:solidFill>
                  <a:schemeClr val="dk1"/>
                </a:solidFill>
                <a:latin typeface="Calibri"/>
                <a:ea typeface="Calibri"/>
                <a:cs typeface="Calibri"/>
                <a:sym typeface="Calibri"/>
              </a:rPr>
              <a:t> (legitimate or fraudulent) is returned to the mobile app, which displays alerts and logs activity for analytics or retraining.</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100">
                <a:solidFill>
                  <a:schemeClr val="dk1"/>
                </a:solidFill>
                <a:latin typeface="Calibri"/>
                <a:ea typeface="Calibri"/>
                <a:cs typeface="Calibri"/>
                <a:sym typeface="Calibri"/>
              </a:rPr>
              <a:t>The system is finally planned to periodically sync with </a:t>
            </a:r>
            <a:r>
              <a:rPr b="1" lang="en-US" sz="1100">
                <a:solidFill>
                  <a:schemeClr val="dk1"/>
                </a:solidFill>
                <a:latin typeface="Calibri"/>
                <a:ea typeface="Calibri"/>
                <a:cs typeface="Calibri"/>
                <a:sym typeface="Calibri"/>
              </a:rPr>
              <a:t>Huawei Cloud OBS</a:t>
            </a:r>
            <a:r>
              <a:rPr lang="en-US" sz="1100">
                <a:solidFill>
                  <a:schemeClr val="dk1"/>
                </a:solidFill>
                <a:latin typeface="Calibri"/>
                <a:ea typeface="Calibri"/>
                <a:cs typeface="Calibri"/>
                <a:sym typeface="Calibri"/>
              </a:rPr>
              <a:t> to ensure both primary and backup API servers run the latest model versions, maintaining availability and accuracy.</a:t>
            </a:r>
            <a:endParaRPr sz="11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1"/>
          <p:cNvSpPr txBox="1"/>
          <p:nvPr/>
        </p:nvSpPr>
        <p:spPr>
          <a:xfrm>
            <a:off x="1046251" y="404410"/>
            <a:ext cx="10736446" cy="3950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90000"/>
              </a:buClr>
              <a:buSzPts val="2799"/>
              <a:buFont typeface="Arial"/>
              <a:buNone/>
            </a:pPr>
            <a:r>
              <a:rPr b="1" lang="en-US" sz="2799">
                <a:solidFill>
                  <a:srgbClr val="990000"/>
                </a:solidFill>
                <a:latin typeface="Microsoft YaHei"/>
                <a:ea typeface="Microsoft YaHei"/>
                <a:cs typeface="Microsoft YaHei"/>
                <a:sym typeface="Microsoft YaHei"/>
              </a:rPr>
              <a:t>Features</a:t>
            </a:r>
            <a:endParaRPr b="1" sz="2799">
              <a:solidFill>
                <a:srgbClr val="990000"/>
              </a:solidFill>
              <a:latin typeface="Microsoft YaHei"/>
              <a:ea typeface="Microsoft YaHei"/>
              <a:cs typeface="Microsoft YaHei"/>
              <a:sym typeface="Microsoft YaHei"/>
            </a:endParaRPr>
          </a:p>
        </p:txBody>
      </p:sp>
      <p:sp>
        <p:nvSpPr>
          <p:cNvPr id="122" name="Google Shape;122;p11"/>
          <p:cNvSpPr/>
          <p:nvPr/>
        </p:nvSpPr>
        <p:spPr>
          <a:xfrm>
            <a:off x="0" y="6435634"/>
            <a:ext cx="12192000" cy="422366"/>
          </a:xfrm>
          <a:prstGeom prst="rect">
            <a:avLst/>
          </a:prstGeom>
          <a:solidFill>
            <a:srgbClr val="D7E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23" name="Google Shape;123;p11"/>
          <p:cNvPicPr preferRelativeResize="0"/>
          <p:nvPr/>
        </p:nvPicPr>
        <p:blipFill rotWithShape="1">
          <a:blip r:embed="rId3">
            <a:alphaModFix/>
          </a:blip>
          <a:srcRect b="0" l="0" r="0" t="0"/>
          <a:stretch/>
        </p:blipFill>
        <p:spPr>
          <a:xfrm>
            <a:off x="10434034" y="4888851"/>
            <a:ext cx="1757966" cy="1757966"/>
          </a:xfrm>
          <a:prstGeom prst="rect">
            <a:avLst/>
          </a:prstGeom>
          <a:noFill/>
          <a:ln>
            <a:noFill/>
          </a:ln>
        </p:spPr>
      </p:pic>
      <p:graphicFrame>
        <p:nvGraphicFramePr>
          <p:cNvPr id="124" name="Google Shape;124;p11"/>
          <p:cNvGraphicFramePr/>
          <p:nvPr/>
        </p:nvGraphicFramePr>
        <p:xfrm>
          <a:off x="6423275" y="1245125"/>
          <a:ext cx="3000000" cy="3000000"/>
        </p:xfrm>
        <a:graphic>
          <a:graphicData uri="http://schemas.openxmlformats.org/drawingml/2006/table">
            <a:tbl>
              <a:tblPr>
                <a:noFill/>
                <a:tableStyleId>{DC457DB7-4CD4-488C-9992-266D6169CF9F}</a:tableStyleId>
              </a:tblPr>
              <a:tblGrid>
                <a:gridCol w="1837275"/>
                <a:gridCol w="1837275"/>
                <a:gridCol w="1837275"/>
              </a:tblGrid>
              <a:tr h="342000">
                <a:tc gridSpan="3">
                  <a:txBody>
                    <a:bodyPr/>
                    <a:lstStyle/>
                    <a:p>
                      <a:pPr indent="0" lvl="0" marL="0" rtl="0" algn="ctr">
                        <a:spcBef>
                          <a:spcPts val="0"/>
                        </a:spcBef>
                        <a:spcAft>
                          <a:spcPts val="0"/>
                        </a:spcAft>
                        <a:buNone/>
                      </a:pPr>
                      <a:r>
                        <a:rPr b="1" i="1" lang="en-US" sz="1200">
                          <a:latin typeface="Microsoft YaHei"/>
                          <a:ea typeface="Microsoft YaHei"/>
                          <a:cs typeface="Microsoft YaHei"/>
                          <a:sym typeface="Microsoft YaHei"/>
                        </a:rPr>
                        <a:t>AI Detection Capabilities vs. Traditional Systems</a:t>
                      </a:r>
                      <a:endParaRPr b="1" i="1" sz="1200">
                        <a:latin typeface="Microsoft YaHei"/>
                        <a:ea typeface="Microsoft YaHei"/>
                        <a:cs typeface="Microsoft YaHei"/>
                        <a:sym typeface="Microsoft YaHei"/>
                      </a:endParaRPr>
                    </a:p>
                  </a:txBody>
                  <a:tcPr marT="91425" marB="91425" marR="91425" marL="91425"/>
                </a:tc>
                <a:tc hMerge="1"/>
                <a:tc hMerge="1"/>
              </a:tr>
              <a:tr h="328875">
                <a:tc>
                  <a:txBody>
                    <a:bodyPr/>
                    <a:lstStyle/>
                    <a:p>
                      <a:pPr indent="0" lvl="0" marL="0" rtl="0" algn="ctr">
                        <a:spcBef>
                          <a:spcPts val="0"/>
                        </a:spcBef>
                        <a:spcAft>
                          <a:spcPts val="0"/>
                        </a:spcAft>
                        <a:buNone/>
                      </a:pPr>
                      <a:r>
                        <a:rPr b="1" lang="en-US" sz="1200">
                          <a:latin typeface="Microsoft YaHei"/>
                          <a:ea typeface="Microsoft YaHei"/>
                          <a:cs typeface="Microsoft YaHei"/>
                          <a:sym typeface="Microsoft YaHei"/>
                        </a:rPr>
                        <a:t>Capability</a:t>
                      </a:r>
                      <a:endParaRPr b="1" sz="1200">
                        <a:latin typeface="Microsoft YaHei"/>
                        <a:ea typeface="Microsoft YaHei"/>
                        <a:cs typeface="Microsoft YaHei"/>
                        <a:sym typeface="Microsoft YaHei"/>
                      </a:endParaRPr>
                    </a:p>
                  </a:txBody>
                  <a:tcPr marT="91425" marB="91425" marR="91425" marL="91425"/>
                </a:tc>
                <a:tc>
                  <a:txBody>
                    <a:bodyPr/>
                    <a:lstStyle/>
                    <a:p>
                      <a:pPr indent="0" lvl="0" marL="0" rtl="0" algn="ctr">
                        <a:spcBef>
                          <a:spcPts val="0"/>
                        </a:spcBef>
                        <a:spcAft>
                          <a:spcPts val="0"/>
                        </a:spcAft>
                        <a:buNone/>
                      </a:pPr>
                      <a:r>
                        <a:rPr b="1" lang="en-US" sz="1200">
                          <a:latin typeface="Microsoft YaHei"/>
                          <a:ea typeface="Microsoft YaHei"/>
                          <a:cs typeface="Microsoft YaHei"/>
                          <a:sym typeface="Microsoft YaHei"/>
                        </a:rPr>
                        <a:t>Traditional Systems</a:t>
                      </a:r>
                      <a:endParaRPr b="1" sz="1200">
                        <a:latin typeface="Microsoft YaHei"/>
                        <a:ea typeface="Microsoft YaHei"/>
                        <a:cs typeface="Microsoft YaHei"/>
                        <a:sym typeface="Microsoft YaHei"/>
                      </a:endParaRPr>
                    </a:p>
                  </a:txBody>
                  <a:tcPr marT="91425" marB="91425" marR="91425" marL="91425"/>
                </a:tc>
                <a:tc>
                  <a:txBody>
                    <a:bodyPr/>
                    <a:lstStyle/>
                    <a:p>
                      <a:pPr indent="0" lvl="0" marL="0" rtl="0" algn="ctr">
                        <a:spcBef>
                          <a:spcPts val="0"/>
                        </a:spcBef>
                        <a:spcAft>
                          <a:spcPts val="0"/>
                        </a:spcAft>
                        <a:buNone/>
                      </a:pPr>
                      <a:r>
                        <a:rPr b="1" lang="en-US" sz="1200">
                          <a:latin typeface="Microsoft YaHei"/>
                          <a:ea typeface="Microsoft YaHei"/>
                          <a:cs typeface="Microsoft YaHei"/>
                          <a:sym typeface="Microsoft YaHei"/>
                        </a:rPr>
                        <a:t>SecureCom AI</a:t>
                      </a:r>
                      <a:endParaRPr b="1" sz="1200">
                        <a:latin typeface="Microsoft YaHei"/>
                        <a:ea typeface="Microsoft YaHei"/>
                        <a:cs typeface="Microsoft YaHei"/>
                        <a:sym typeface="Microsoft YaHei"/>
                      </a:endParaRPr>
                    </a:p>
                  </a:txBody>
                  <a:tcPr marT="91425" marB="91425" marR="91425" marL="91425"/>
                </a:tc>
              </a:tr>
              <a:tr h="328875">
                <a:tc>
                  <a:txBody>
                    <a:bodyPr/>
                    <a:lstStyle/>
                    <a:p>
                      <a:pPr indent="0" lvl="0" marL="0" rtl="0" algn="l">
                        <a:spcBef>
                          <a:spcPts val="0"/>
                        </a:spcBef>
                        <a:spcAft>
                          <a:spcPts val="0"/>
                        </a:spcAft>
                        <a:buNone/>
                      </a:pPr>
                      <a:r>
                        <a:rPr lang="en-US" sz="1200">
                          <a:latin typeface="Microsoft YaHei"/>
                          <a:ea typeface="Microsoft YaHei"/>
                          <a:cs typeface="Microsoft YaHei"/>
                          <a:sym typeface="Microsoft YaHei"/>
                        </a:rPr>
                        <a:t>Detection Method</a:t>
                      </a:r>
                      <a:endParaRPr sz="1200">
                        <a:latin typeface="Microsoft YaHei"/>
                        <a:ea typeface="Microsoft YaHei"/>
                        <a:cs typeface="Microsoft YaHei"/>
                        <a:sym typeface="Microsoft YaHei"/>
                      </a:endParaRPr>
                    </a:p>
                  </a:txBody>
                  <a:tcPr marT="91425" marB="91425" marR="91425" marL="91425"/>
                </a:tc>
                <a:tc>
                  <a:txBody>
                    <a:bodyPr/>
                    <a:lstStyle/>
                    <a:p>
                      <a:pPr indent="0" lvl="0" marL="0" rtl="0" algn="l">
                        <a:spcBef>
                          <a:spcPts val="0"/>
                        </a:spcBef>
                        <a:spcAft>
                          <a:spcPts val="0"/>
                        </a:spcAft>
                        <a:buNone/>
                      </a:pPr>
                      <a:r>
                        <a:rPr lang="en-US" sz="1200">
                          <a:latin typeface="Microsoft YaHei"/>
                          <a:ea typeface="Microsoft YaHei"/>
                          <a:cs typeface="Microsoft YaHei"/>
                          <a:sym typeface="Microsoft YaHei"/>
                        </a:rPr>
                        <a:t>Keyword matching</a:t>
                      </a:r>
                      <a:endParaRPr sz="1200">
                        <a:latin typeface="Microsoft YaHei"/>
                        <a:ea typeface="Microsoft YaHei"/>
                        <a:cs typeface="Microsoft YaHei"/>
                        <a:sym typeface="Microsoft YaHei"/>
                      </a:endParaRPr>
                    </a:p>
                  </a:txBody>
                  <a:tcPr marT="91425" marB="91425" marR="91425" marL="91425"/>
                </a:tc>
                <a:tc>
                  <a:txBody>
                    <a:bodyPr/>
                    <a:lstStyle/>
                    <a:p>
                      <a:pPr indent="0" lvl="0" marL="0" rtl="0" algn="l">
                        <a:spcBef>
                          <a:spcPts val="0"/>
                        </a:spcBef>
                        <a:spcAft>
                          <a:spcPts val="0"/>
                        </a:spcAft>
                        <a:buNone/>
                      </a:pPr>
                      <a:r>
                        <a:rPr lang="en-US" sz="1200">
                          <a:latin typeface="Microsoft YaHei"/>
                          <a:ea typeface="Microsoft YaHei"/>
                          <a:cs typeface="Microsoft YaHei"/>
                          <a:sym typeface="Microsoft YaHei"/>
                        </a:rPr>
                        <a:t>Semantic context analysis</a:t>
                      </a:r>
                      <a:endParaRPr sz="1200">
                        <a:latin typeface="Microsoft YaHei"/>
                        <a:ea typeface="Microsoft YaHei"/>
                        <a:cs typeface="Microsoft YaHei"/>
                        <a:sym typeface="Microsoft YaHei"/>
                      </a:endParaRPr>
                    </a:p>
                  </a:txBody>
                  <a:tcPr marT="91425" marB="91425" marR="91425" marL="91425"/>
                </a:tc>
              </a:tr>
              <a:tr h="328875">
                <a:tc>
                  <a:txBody>
                    <a:bodyPr/>
                    <a:lstStyle/>
                    <a:p>
                      <a:pPr indent="0" lvl="0" marL="0" rtl="0" algn="l">
                        <a:spcBef>
                          <a:spcPts val="0"/>
                        </a:spcBef>
                        <a:spcAft>
                          <a:spcPts val="0"/>
                        </a:spcAft>
                        <a:buNone/>
                      </a:pPr>
                      <a:r>
                        <a:rPr lang="en-US" sz="1200">
                          <a:latin typeface="Microsoft YaHei"/>
                          <a:ea typeface="Microsoft YaHei"/>
                          <a:cs typeface="Microsoft YaHei"/>
                          <a:sym typeface="Microsoft YaHei"/>
                        </a:rPr>
                        <a:t>SMS Protection</a:t>
                      </a:r>
                      <a:endParaRPr sz="1200">
                        <a:latin typeface="Microsoft YaHei"/>
                        <a:ea typeface="Microsoft YaHei"/>
                        <a:cs typeface="Microsoft YaHei"/>
                        <a:sym typeface="Microsoft YaHei"/>
                      </a:endParaRPr>
                    </a:p>
                  </a:txBody>
                  <a:tcPr marT="91425" marB="91425" marR="91425" marL="91425"/>
                </a:tc>
                <a:tc>
                  <a:txBody>
                    <a:bodyPr/>
                    <a:lstStyle/>
                    <a:p>
                      <a:pPr indent="0" lvl="0" marL="0" rtl="0" algn="l">
                        <a:spcBef>
                          <a:spcPts val="0"/>
                        </a:spcBef>
                        <a:spcAft>
                          <a:spcPts val="0"/>
                        </a:spcAft>
                        <a:buNone/>
                      </a:pPr>
                      <a:r>
                        <a:rPr lang="en-US" sz="1200">
                          <a:latin typeface="Microsoft YaHei"/>
                          <a:ea typeface="Microsoft YaHei"/>
                          <a:cs typeface="Microsoft YaHei"/>
                          <a:sym typeface="Microsoft YaHei"/>
                        </a:rPr>
                        <a:t>Static blacklist</a:t>
                      </a:r>
                      <a:endParaRPr sz="1200">
                        <a:latin typeface="Microsoft YaHei"/>
                        <a:ea typeface="Microsoft YaHei"/>
                        <a:cs typeface="Microsoft YaHei"/>
                        <a:sym typeface="Microsoft YaHei"/>
                      </a:endParaRPr>
                    </a:p>
                  </a:txBody>
                  <a:tcPr marT="91425" marB="91425" marR="91425" marL="91425"/>
                </a:tc>
                <a:tc>
                  <a:txBody>
                    <a:bodyPr/>
                    <a:lstStyle/>
                    <a:p>
                      <a:pPr indent="0" lvl="0" marL="0" rtl="0" algn="l">
                        <a:spcBef>
                          <a:spcPts val="0"/>
                        </a:spcBef>
                        <a:spcAft>
                          <a:spcPts val="0"/>
                        </a:spcAft>
                        <a:buNone/>
                      </a:pPr>
                      <a:r>
                        <a:rPr lang="en-US" sz="1200">
                          <a:latin typeface="Microsoft YaHei"/>
                          <a:ea typeface="Microsoft YaHei"/>
                          <a:cs typeface="Microsoft YaHei"/>
                          <a:sym typeface="Microsoft YaHei"/>
                        </a:rPr>
                        <a:t>BERT transformer (SMS-optimized)</a:t>
                      </a:r>
                      <a:endParaRPr sz="1200">
                        <a:latin typeface="Microsoft YaHei"/>
                        <a:ea typeface="Microsoft YaHei"/>
                        <a:cs typeface="Microsoft YaHei"/>
                        <a:sym typeface="Microsoft YaHei"/>
                      </a:endParaRPr>
                    </a:p>
                  </a:txBody>
                  <a:tcPr marT="91425" marB="91425" marR="91425" marL="91425"/>
                </a:tc>
              </a:tr>
              <a:tr h="328875">
                <a:tc>
                  <a:txBody>
                    <a:bodyPr/>
                    <a:lstStyle/>
                    <a:p>
                      <a:pPr indent="0" lvl="0" marL="0" rtl="0" algn="l">
                        <a:spcBef>
                          <a:spcPts val="0"/>
                        </a:spcBef>
                        <a:spcAft>
                          <a:spcPts val="0"/>
                        </a:spcAft>
                        <a:buNone/>
                      </a:pPr>
                      <a:r>
                        <a:rPr lang="en-US" sz="1200">
                          <a:latin typeface="Microsoft YaHei"/>
                          <a:ea typeface="Microsoft YaHei"/>
                          <a:cs typeface="Microsoft YaHei"/>
                          <a:sym typeface="Microsoft YaHei"/>
                        </a:rPr>
                        <a:t>Voice Protection</a:t>
                      </a:r>
                      <a:endParaRPr sz="1200">
                        <a:latin typeface="Microsoft YaHei"/>
                        <a:ea typeface="Microsoft YaHei"/>
                        <a:cs typeface="Microsoft YaHei"/>
                        <a:sym typeface="Microsoft YaHei"/>
                      </a:endParaRPr>
                    </a:p>
                  </a:txBody>
                  <a:tcPr marT="91425" marB="91425" marR="91425" marL="91425"/>
                </a:tc>
                <a:tc>
                  <a:txBody>
                    <a:bodyPr/>
                    <a:lstStyle/>
                    <a:p>
                      <a:pPr indent="0" lvl="0" marL="0" rtl="0" algn="l">
                        <a:spcBef>
                          <a:spcPts val="0"/>
                        </a:spcBef>
                        <a:spcAft>
                          <a:spcPts val="0"/>
                        </a:spcAft>
                        <a:buNone/>
                      </a:pPr>
                      <a:r>
                        <a:rPr lang="en-US" sz="1200">
                          <a:latin typeface="Microsoft YaHei"/>
                          <a:ea typeface="Microsoft YaHei"/>
                          <a:cs typeface="Microsoft YaHei"/>
                          <a:sym typeface="Microsoft YaHei"/>
                        </a:rPr>
                        <a:t>None</a:t>
                      </a:r>
                      <a:endParaRPr sz="1200">
                        <a:latin typeface="Microsoft YaHei"/>
                        <a:ea typeface="Microsoft YaHei"/>
                        <a:cs typeface="Microsoft YaHei"/>
                        <a:sym typeface="Microsoft YaHei"/>
                      </a:endParaRPr>
                    </a:p>
                  </a:txBody>
                  <a:tcPr marT="91425" marB="91425" marR="91425" marL="91425"/>
                </a:tc>
                <a:tc>
                  <a:txBody>
                    <a:bodyPr/>
                    <a:lstStyle/>
                    <a:p>
                      <a:pPr indent="0" lvl="0" marL="0" rtl="0" algn="l">
                        <a:spcBef>
                          <a:spcPts val="0"/>
                        </a:spcBef>
                        <a:spcAft>
                          <a:spcPts val="0"/>
                        </a:spcAft>
                        <a:buNone/>
                      </a:pPr>
                      <a:r>
                        <a:rPr lang="en-US" sz="1200">
                          <a:latin typeface="Microsoft YaHei"/>
                          <a:ea typeface="Microsoft YaHei"/>
                          <a:cs typeface="Microsoft YaHei"/>
                          <a:sym typeface="Microsoft YaHei"/>
                        </a:rPr>
                        <a:t>BERT transformer (voice-optimized)</a:t>
                      </a:r>
                      <a:endParaRPr sz="1200">
                        <a:latin typeface="Microsoft YaHei"/>
                        <a:ea typeface="Microsoft YaHei"/>
                        <a:cs typeface="Microsoft YaHei"/>
                        <a:sym typeface="Microsoft YaHei"/>
                      </a:endParaRPr>
                    </a:p>
                  </a:txBody>
                  <a:tcPr marT="91425" marB="91425" marR="91425" marL="91425"/>
                </a:tc>
              </a:tr>
              <a:tr h="328875">
                <a:tc>
                  <a:txBody>
                    <a:bodyPr/>
                    <a:lstStyle/>
                    <a:p>
                      <a:pPr indent="0" lvl="0" marL="0" rtl="0" algn="l">
                        <a:spcBef>
                          <a:spcPts val="0"/>
                        </a:spcBef>
                        <a:spcAft>
                          <a:spcPts val="0"/>
                        </a:spcAft>
                        <a:buNone/>
                      </a:pPr>
                      <a:r>
                        <a:rPr lang="en-US" sz="1200">
                          <a:latin typeface="Microsoft YaHei"/>
                          <a:ea typeface="Microsoft YaHei"/>
                          <a:cs typeface="Microsoft YaHei"/>
                          <a:sym typeface="Microsoft YaHei"/>
                        </a:rPr>
                        <a:t>Adaptation</a:t>
                      </a:r>
                      <a:endParaRPr sz="1200">
                        <a:latin typeface="Microsoft YaHei"/>
                        <a:ea typeface="Microsoft YaHei"/>
                        <a:cs typeface="Microsoft YaHei"/>
                        <a:sym typeface="Microsoft YaHei"/>
                      </a:endParaRPr>
                    </a:p>
                  </a:txBody>
                  <a:tcPr marT="91425" marB="91425" marR="91425" marL="91425"/>
                </a:tc>
                <a:tc>
                  <a:txBody>
                    <a:bodyPr/>
                    <a:lstStyle/>
                    <a:p>
                      <a:pPr indent="0" lvl="0" marL="0" rtl="0" algn="l">
                        <a:spcBef>
                          <a:spcPts val="0"/>
                        </a:spcBef>
                        <a:spcAft>
                          <a:spcPts val="0"/>
                        </a:spcAft>
                        <a:buNone/>
                      </a:pPr>
                      <a:r>
                        <a:rPr lang="en-US" sz="1200">
                          <a:latin typeface="Microsoft YaHei"/>
                          <a:ea typeface="Microsoft YaHei"/>
                          <a:cs typeface="Microsoft YaHei"/>
                          <a:sym typeface="Microsoft YaHei"/>
                        </a:rPr>
                        <a:t>Manual updates</a:t>
                      </a:r>
                      <a:endParaRPr sz="1200">
                        <a:latin typeface="Microsoft YaHei"/>
                        <a:ea typeface="Microsoft YaHei"/>
                        <a:cs typeface="Microsoft YaHei"/>
                        <a:sym typeface="Microsoft YaHei"/>
                      </a:endParaRPr>
                    </a:p>
                  </a:txBody>
                  <a:tcPr marT="91425" marB="91425" marR="91425" marL="91425"/>
                </a:tc>
                <a:tc>
                  <a:txBody>
                    <a:bodyPr/>
                    <a:lstStyle/>
                    <a:p>
                      <a:pPr indent="0" lvl="0" marL="0" rtl="0" algn="l">
                        <a:spcBef>
                          <a:spcPts val="0"/>
                        </a:spcBef>
                        <a:spcAft>
                          <a:spcPts val="0"/>
                        </a:spcAft>
                        <a:buNone/>
                      </a:pPr>
                      <a:r>
                        <a:rPr lang="en-US" sz="1200">
                          <a:latin typeface="Microsoft YaHei"/>
                          <a:ea typeface="Microsoft YaHei"/>
                          <a:cs typeface="Microsoft YaHei"/>
                          <a:sym typeface="Microsoft YaHei"/>
                        </a:rPr>
                        <a:t>Retrainable AI models</a:t>
                      </a:r>
                      <a:endParaRPr sz="1200">
                        <a:latin typeface="Microsoft YaHei"/>
                        <a:ea typeface="Microsoft YaHei"/>
                        <a:cs typeface="Microsoft YaHei"/>
                        <a:sym typeface="Microsoft YaHei"/>
                      </a:endParaRPr>
                    </a:p>
                  </a:txBody>
                  <a:tcPr marT="91425" marB="91425" marR="91425" marL="91425"/>
                </a:tc>
              </a:tr>
              <a:tr h="328875">
                <a:tc>
                  <a:txBody>
                    <a:bodyPr/>
                    <a:lstStyle/>
                    <a:p>
                      <a:pPr indent="0" lvl="0" marL="0" rtl="0" algn="l">
                        <a:spcBef>
                          <a:spcPts val="0"/>
                        </a:spcBef>
                        <a:spcAft>
                          <a:spcPts val="0"/>
                        </a:spcAft>
                        <a:buNone/>
                      </a:pPr>
                      <a:r>
                        <a:rPr lang="en-US" sz="1200">
                          <a:latin typeface="Microsoft YaHei"/>
                          <a:ea typeface="Microsoft YaHei"/>
                          <a:cs typeface="Microsoft YaHei"/>
                          <a:sym typeface="Microsoft YaHei"/>
                        </a:rPr>
                        <a:t>Response Time</a:t>
                      </a:r>
                      <a:endParaRPr sz="1200">
                        <a:latin typeface="Microsoft YaHei"/>
                        <a:ea typeface="Microsoft YaHei"/>
                        <a:cs typeface="Microsoft YaHei"/>
                        <a:sym typeface="Microsoft YaHei"/>
                      </a:endParaRPr>
                    </a:p>
                  </a:txBody>
                  <a:tcPr marT="91425" marB="91425" marR="91425" marL="91425"/>
                </a:tc>
                <a:tc>
                  <a:txBody>
                    <a:bodyPr/>
                    <a:lstStyle/>
                    <a:p>
                      <a:pPr indent="0" lvl="0" marL="0" rtl="0" algn="l">
                        <a:spcBef>
                          <a:spcPts val="0"/>
                        </a:spcBef>
                        <a:spcAft>
                          <a:spcPts val="0"/>
                        </a:spcAft>
                        <a:buNone/>
                      </a:pPr>
                      <a:r>
                        <a:rPr lang="en-US" sz="1200">
                          <a:latin typeface="Microsoft YaHei"/>
                          <a:ea typeface="Microsoft YaHei"/>
                          <a:cs typeface="Microsoft YaHei"/>
                          <a:sym typeface="Microsoft YaHei"/>
                        </a:rPr>
                        <a:t>Post-exposure</a:t>
                      </a:r>
                      <a:endParaRPr sz="1200">
                        <a:latin typeface="Microsoft YaHei"/>
                        <a:ea typeface="Microsoft YaHei"/>
                        <a:cs typeface="Microsoft YaHei"/>
                        <a:sym typeface="Microsoft YaHei"/>
                      </a:endParaRPr>
                    </a:p>
                  </a:txBody>
                  <a:tcPr marT="91425" marB="91425" marR="91425" marL="91425"/>
                </a:tc>
                <a:tc>
                  <a:txBody>
                    <a:bodyPr/>
                    <a:lstStyle/>
                    <a:p>
                      <a:pPr indent="0" lvl="0" marL="0" rtl="0" algn="l">
                        <a:spcBef>
                          <a:spcPts val="0"/>
                        </a:spcBef>
                        <a:spcAft>
                          <a:spcPts val="0"/>
                        </a:spcAft>
                        <a:buNone/>
                      </a:pPr>
                      <a:r>
                        <a:rPr lang="en-US" sz="1200">
                          <a:latin typeface="Microsoft YaHei"/>
                          <a:ea typeface="Microsoft YaHei"/>
                          <a:cs typeface="Microsoft YaHei"/>
                          <a:sym typeface="Microsoft YaHei"/>
                        </a:rPr>
                        <a:t>Real-time inference</a:t>
                      </a:r>
                      <a:endParaRPr sz="1200">
                        <a:latin typeface="Microsoft YaHei"/>
                        <a:ea typeface="Microsoft YaHei"/>
                        <a:cs typeface="Microsoft YaHei"/>
                        <a:sym typeface="Microsoft YaHei"/>
                      </a:endParaRPr>
                    </a:p>
                  </a:txBody>
                  <a:tcPr marT="91425" marB="91425" marR="91425" marL="91425"/>
                </a:tc>
              </a:tr>
            </a:tbl>
          </a:graphicData>
        </a:graphic>
      </p:graphicFrame>
      <p:sp>
        <p:nvSpPr>
          <p:cNvPr id="125" name="Google Shape;125;p11"/>
          <p:cNvSpPr txBox="1"/>
          <p:nvPr>
            <p:ph idx="1" type="body"/>
          </p:nvPr>
        </p:nvSpPr>
        <p:spPr>
          <a:xfrm>
            <a:off x="352450" y="1159400"/>
            <a:ext cx="5864400" cy="3873000"/>
          </a:xfrm>
          <a:prstGeom prst="rect">
            <a:avLst/>
          </a:prstGeom>
          <a:noFill/>
          <a:ln>
            <a:noFill/>
          </a:ln>
        </p:spPr>
        <p:txBody>
          <a:bodyPr anchorCtr="0" anchor="t" bIns="45700" lIns="91425" spcFirstLastPara="1" rIns="91425" wrap="square" tIns="45700">
            <a:noAutofit/>
          </a:bodyPr>
          <a:lstStyle/>
          <a:p>
            <a:pPr indent="400050" lvl="0" marL="0" rtl="0" algn="just">
              <a:lnSpc>
                <a:spcPct val="115000"/>
              </a:lnSpc>
              <a:spcBef>
                <a:spcPts val="1200"/>
              </a:spcBef>
              <a:spcAft>
                <a:spcPts val="0"/>
              </a:spcAft>
              <a:buNone/>
            </a:pPr>
            <a:r>
              <a:rPr lang="en-US" sz="1300">
                <a:latin typeface="Microsoft YaHei"/>
                <a:ea typeface="Microsoft YaHei"/>
                <a:cs typeface="Microsoft YaHei"/>
                <a:sym typeface="Microsoft YaHei"/>
              </a:rPr>
              <a:t>SecureCom integrates transformer-based AI fraud detection with dual-channel architecture and Flask API infrastructure to provide immediate, context-aware identification of smishing and vishing attacks.</a:t>
            </a:r>
            <a:endParaRPr sz="1300">
              <a:latin typeface="Microsoft YaHei"/>
              <a:ea typeface="Microsoft YaHei"/>
              <a:cs typeface="Microsoft YaHei"/>
              <a:sym typeface="Microsoft YaHei"/>
            </a:endParaRPr>
          </a:p>
          <a:p>
            <a:pPr indent="0" lvl="0" marL="0" rtl="0" algn="l">
              <a:lnSpc>
                <a:spcPct val="115000"/>
              </a:lnSpc>
              <a:spcBef>
                <a:spcPts val="1200"/>
              </a:spcBef>
              <a:spcAft>
                <a:spcPts val="0"/>
              </a:spcAft>
              <a:buNone/>
            </a:pPr>
            <a:r>
              <a:rPr b="1" lang="en-US" sz="1300">
                <a:latin typeface="Microsoft YaHei"/>
                <a:ea typeface="Microsoft YaHei"/>
                <a:cs typeface="Microsoft YaHei"/>
                <a:sym typeface="Microsoft YaHei"/>
              </a:rPr>
              <a:t>Key Features:</a:t>
            </a:r>
            <a:endParaRPr b="1" sz="1300">
              <a:latin typeface="Microsoft YaHei"/>
              <a:ea typeface="Microsoft YaHei"/>
              <a:cs typeface="Microsoft YaHei"/>
              <a:sym typeface="Microsoft YaHei"/>
            </a:endParaRPr>
          </a:p>
          <a:p>
            <a:pPr indent="-311150" lvl="0" marL="457200" rtl="0" algn="l">
              <a:lnSpc>
                <a:spcPct val="115000"/>
              </a:lnSpc>
              <a:spcBef>
                <a:spcPts val="1200"/>
              </a:spcBef>
              <a:spcAft>
                <a:spcPts val="0"/>
              </a:spcAft>
              <a:buSzPts val="1300"/>
              <a:buFont typeface="Microsoft YaHei"/>
              <a:buChar char="●"/>
            </a:pPr>
            <a:r>
              <a:rPr lang="en-US" sz="1300">
                <a:latin typeface="Microsoft YaHei"/>
                <a:ea typeface="Microsoft YaHei"/>
                <a:cs typeface="Microsoft YaHei"/>
                <a:sym typeface="Microsoft YaHei"/>
              </a:rPr>
              <a:t>Provides objective AI classification beyond keyword blacklists through semantic understanding of fraud patterns, urgency manipulation, and social engineering tactics</a:t>
            </a:r>
            <a:br>
              <a:rPr lang="en-US" sz="1300">
                <a:latin typeface="Microsoft YaHei"/>
                <a:ea typeface="Microsoft YaHei"/>
                <a:cs typeface="Microsoft YaHei"/>
                <a:sym typeface="Microsoft YaHei"/>
              </a:rPr>
            </a:br>
            <a:endParaRPr sz="1300">
              <a:latin typeface="Microsoft YaHei"/>
              <a:ea typeface="Microsoft YaHei"/>
              <a:cs typeface="Microsoft YaHei"/>
              <a:sym typeface="Microsoft YaHei"/>
            </a:endParaRPr>
          </a:p>
          <a:p>
            <a:pPr indent="-311150" lvl="0" marL="457200" rtl="0" algn="l">
              <a:lnSpc>
                <a:spcPct val="115000"/>
              </a:lnSpc>
              <a:spcBef>
                <a:spcPts val="0"/>
              </a:spcBef>
              <a:spcAft>
                <a:spcPts val="0"/>
              </a:spcAft>
              <a:buSzPts val="1300"/>
              <a:buFont typeface="Microsoft YaHei"/>
              <a:buChar char="●"/>
            </a:pPr>
            <a:r>
              <a:rPr lang="en-US" sz="1300">
                <a:latin typeface="Microsoft YaHei"/>
                <a:ea typeface="Microsoft YaHei"/>
                <a:cs typeface="Microsoft YaHei"/>
                <a:sym typeface="Microsoft YaHei"/>
              </a:rPr>
              <a:t>Utilizes dual BERT-tiny models analyzing SMS and voice transcripts separately, with specialized optimization for each channel's linguistic characteristics</a:t>
            </a:r>
            <a:br>
              <a:rPr lang="en-US" sz="1300">
                <a:latin typeface="Microsoft YaHei"/>
                <a:ea typeface="Microsoft YaHei"/>
                <a:cs typeface="Microsoft YaHei"/>
                <a:sym typeface="Microsoft YaHei"/>
              </a:rPr>
            </a:br>
            <a:endParaRPr sz="1300">
              <a:latin typeface="Microsoft YaHei"/>
              <a:ea typeface="Microsoft YaHei"/>
              <a:cs typeface="Microsoft YaHei"/>
              <a:sym typeface="Microsoft YaHei"/>
            </a:endParaRPr>
          </a:p>
          <a:p>
            <a:pPr indent="-311150" lvl="0" marL="457200" rtl="0" algn="l">
              <a:lnSpc>
                <a:spcPct val="115000"/>
              </a:lnSpc>
              <a:spcBef>
                <a:spcPts val="0"/>
              </a:spcBef>
              <a:spcAft>
                <a:spcPts val="0"/>
              </a:spcAft>
              <a:buSzPts val="1300"/>
              <a:buFont typeface="Microsoft YaHei"/>
              <a:buChar char="●"/>
            </a:pPr>
            <a:r>
              <a:rPr lang="en-US" sz="1300">
                <a:latin typeface="Microsoft YaHei"/>
                <a:ea typeface="Microsoft YaHei"/>
                <a:cs typeface="Microsoft YaHei"/>
                <a:sym typeface="Microsoft YaHei"/>
              </a:rPr>
              <a:t>Processes input through preprocessing pipeline (cleaning, normalization, tokenization) then analyzes with fine-tuned transformers to classify: </a:t>
            </a:r>
            <a:r>
              <a:rPr i="1" lang="en-US" sz="1300">
                <a:latin typeface="Microsoft YaHei"/>
                <a:ea typeface="Microsoft YaHei"/>
                <a:cs typeface="Microsoft YaHei"/>
                <a:sym typeface="Microsoft YaHei"/>
              </a:rPr>
              <a:t>LEGITIMATE (0) </a:t>
            </a:r>
            <a:r>
              <a:rPr lang="en-US" sz="1300">
                <a:latin typeface="Microsoft YaHei"/>
                <a:ea typeface="Microsoft YaHei"/>
                <a:cs typeface="Microsoft YaHei"/>
                <a:sym typeface="Microsoft YaHei"/>
              </a:rPr>
              <a:t>or </a:t>
            </a:r>
            <a:r>
              <a:rPr i="1" lang="en-US" sz="1300">
                <a:latin typeface="Microsoft YaHei"/>
                <a:ea typeface="Microsoft YaHei"/>
                <a:cs typeface="Microsoft YaHei"/>
                <a:sym typeface="Microsoft YaHei"/>
              </a:rPr>
              <a:t>FRAUDULENT (1)</a:t>
            </a:r>
            <a:endParaRPr b="1" i="1" sz="1300">
              <a:latin typeface="Microsoft YaHei"/>
              <a:ea typeface="Microsoft YaHei"/>
              <a:cs typeface="Microsoft YaHei"/>
              <a:sym typeface="Microsoft YaHei"/>
            </a:endParaRPr>
          </a:p>
        </p:txBody>
      </p:sp>
      <p:sp>
        <p:nvSpPr>
          <p:cNvPr id="126" name="Google Shape;126;p11"/>
          <p:cNvSpPr txBox="1"/>
          <p:nvPr>
            <p:ph idx="1" type="body"/>
          </p:nvPr>
        </p:nvSpPr>
        <p:spPr>
          <a:xfrm>
            <a:off x="352450" y="5272550"/>
            <a:ext cx="10149600" cy="1109700"/>
          </a:xfrm>
          <a:prstGeom prst="rect">
            <a:avLst/>
          </a:prstGeom>
          <a:noFill/>
          <a:ln>
            <a:noFill/>
          </a:ln>
        </p:spPr>
        <p:txBody>
          <a:bodyPr anchorCtr="0" anchor="t" bIns="45700" lIns="91425" spcFirstLastPara="1" rIns="91425" wrap="square" tIns="45700">
            <a:noAutofit/>
          </a:bodyPr>
          <a:lstStyle/>
          <a:p>
            <a:pPr indent="400050" lvl="0" marL="0" rtl="0" algn="just">
              <a:lnSpc>
                <a:spcPct val="115000"/>
              </a:lnSpc>
              <a:spcBef>
                <a:spcPts val="1200"/>
              </a:spcBef>
              <a:spcAft>
                <a:spcPts val="1200"/>
              </a:spcAft>
              <a:buNone/>
            </a:pPr>
            <a:r>
              <a:rPr lang="en-US" sz="1300">
                <a:latin typeface="Microsoft YaHei"/>
                <a:ea typeface="Microsoft YaHei"/>
                <a:cs typeface="Microsoft YaHei"/>
                <a:sym typeface="Microsoft YaHei"/>
              </a:rPr>
              <a:t>SecureCom is the first platform to integrate transformer-based NLP, dual-channel specialization, and mobile-ready inference for communication fraud detection. Unlike traditional blacklist systems, SecureCom's AI model understand context, intent, and manipulation patterns, providing quantifiable fraud assessment that adapts as threats evolve, immediately enabling users to recognize sophisticated attacks without relying on constantly-updated keyword lists.</a:t>
            </a:r>
            <a:endParaRPr b="1" i="1" sz="1300">
              <a:latin typeface="Microsoft YaHei"/>
              <a:ea typeface="Microsoft YaHei"/>
              <a:cs typeface="Microsoft YaHei"/>
              <a:sym typeface="Microsoft YaHei"/>
            </a:endParaRPr>
          </a:p>
        </p:txBody>
      </p:sp>
      <p:sp>
        <p:nvSpPr>
          <p:cNvPr id="127" name="Google Shape;127;p11"/>
          <p:cNvSpPr txBox="1"/>
          <p:nvPr>
            <p:ph idx="1" type="body"/>
          </p:nvPr>
        </p:nvSpPr>
        <p:spPr>
          <a:xfrm>
            <a:off x="6000800" y="4415850"/>
            <a:ext cx="5972400" cy="395100"/>
          </a:xfrm>
          <a:prstGeom prst="rect">
            <a:avLst/>
          </a:prstGeom>
          <a:noFill/>
          <a:ln>
            <a:noFill/>
          </a:ln>
        </p:spPr>
        <p:txBody>
          <a:bodyPr anchorCtr="0" anchor="t" bIns="45700" lIns="91425" spcFirstLastPara="1" rIns="91425" wrap="square" tIns="45700">
            <a:noAutofit/>
          </a:bodyPr>
          <a:lstStyle/>
          <a:p>
            <a:pPr indent="400050" lvl="0" marL="0" rtl="0" algn="ctr">
              <a:lnSpc>
                <a:spcPct val="115000"/>
              </a:lnSpc>
              <a:spcBef>
                <a:spcPts val="1200"/>
              </a:spcBef>
              <a:spcAft>
                <a:spcPts val="1200"/>
              </a:spcAft>
              <a:buNone/>
            </a:pPr>
            <a:r>
              <a:rPr i="1" lang="en-US" sz="1200">
                <a:latin typeface="Microsoft YaHei"/>
                <a:ea typeface="Microsoft YaHei"/>
                <a:cs typeface="Microsoft YaHei"/>
                <a:sym typeface="Microsoft YaHei"/>
              </a:rPr>
              <a:t>Table 1. SecureCom AI-driven detection capabilities compared to traditional fraud prevention systems</a:t>
            </a:r>
            <a:endParaRPr b="1" i="1" sz="1200">
              <a:latin typeface="Microsoft YaHei"/>
              <a:ea typeface="Microsoft YaHei"/>
              <a:cs typeface="Microsoft YaHei"/>
              <a:sym typeface="Microsoft YaHe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2"/>
          <p:cNvSpPr txBox="1"/>
          <p:nvPr/>
        </p:nvSpPr>
        <p:spPr>
          <a:xfrm>
            <a:off x="1046251" y="404410"/>
            <a:ext cx="10736446" cy="3950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90000"/>
              </a:buClr>
              <a:buSzPts val="2799"/>
              <a:buFont typeface="Arial"/>
              <a:buNone/>
            </a:pPr>
            <a:r>
              <a:rPr b="1" lang="en-US" sz="2799">
                <a:solidFill>
                  <a:srgbClr val="990000"/>
                </a:solidFill>
                <a:latin typeface="Microsoft YaHei"/>
                <a:ea typeface="Microsoft YaHei"/>
                <a:cs typeface="Microsoft YaHei"/>
                <a:sym typeface="Microsoft YaHei"/>
              </a:rPr>
              <a:t>Innovations</a:t>
            </a:r>
            <a:endParaRPr b="1" sz="2799">
              <a:solidFill>
                <a:srgbClr val="990000"/>
              </a:solidFill>
              <a:latin typeface="Microsoft YaHei"/>
              <a:ea typeface="Microsoft YaHei"/>
              <a:cs typeface="Microsoft YaHei"/>
              <a:sym typeface="Microsoft YaHei"/>
            </a:endParaRPr>
          </a:p>
        </p:txBody>
      </p:sp>
      <p:sp>
        <p:nvSpPr>
          <p:cNvPr id="133" name="Google Shape;133;p12"/>
          <p:cNvSpPr txBox="1"/>
          <p:nvPr>
            <p:ph idx="1" type="body"/>
          </p:nvPr>
        </p:nvSpPr>
        <p:spPr>
          <a:xfrm>
            <a:off x="731250" y="1387399"/>
            <a:ext cx="10729500" cy="4191000"/>
          </a:xfrm>
          <a:prstGeom prst="rect">
            <a:avLst/>
          </a:prstGeom>
          <a:noFill/>
          <a:ln>
            <a:noFill/>
          </a:ln>
        </p:spPr>
        <p:txBody>
          <a:bodyPr anchorCtr="0" anchor="t" bIns="45700" lIns="91425" spcFirstLastPara="1" rIns="91425" wrap="square" tIns="45700">
            <a:noAutofit/>
          </a:bodyPr>
          <a:lstStyle/>
          <a:p>
            <a:pPr indent="0" lvl="0" marL="0" rtl="0" algn="just">
              <a:lnSpc>
                <a:spcPct val="95000"/>
              </a:lnSpc>
              <a:spcBef>
                <a:spcPts val="1200"/>
              </a:spcBef>
              <a:spcAft>
                <a:spcPts val="0"/>
              </a:spcAft>
              <a:buSzPts val="852"/>
              <a:buNone/>
            </a:pPr>
            <a:r>
              <a:rPr b="1" lang="en-US" sz="1300">
                <a:latin typeface="Microsoft YaHei"/>
                <a:ea typeface="Microsoft YaHei"/>
                <a:cs typeface="Microsoft YaHei"/>
                <a:sym typeface="Microsoft YaHei"/>
              </a:rPr>
              <a:t>SecureCom</a:t>
            </a:r>
            <a:r>
              <a:rPr lang="en-US" sz="1300">
                <a:latin typeface="Microsoft YaHei"/>
                <a:ea typeface="Microsoft YaHei"/>
                <a:cs typeface="Microsoft YaHei"/>
                <a:sym typeface="Microsoft YaHei"/>
              </a:rPr>
              <a:t> is the first fraud detection system to apply transformer neural networks to communication content analysis, moving beyond simple pattern matching to semantic understanding.</a:t>
            </a:r>
            <a:br>
              <a:rPr lang="en-US" sz="1300">
                <a:latin typeface="Microsoft YaHei"/>
                <a:ea typeface="Microsoft YaHei"/>
                <a:cs typeface="Microsoft YaHei"/>
                <a:sym typeface="Microsoft YaHei"/>
              </a:rPr>
            </a:br>
            <a:endParaRPr sz="1300">
              <a:latin typeface="Microsoft YaHei"/>
              <a:ea typeface="Microsoft YaHei"/>
              <a:cs typeface="Microsoft YaHei"/>
              <a:sym typeface="Microsoft YaHei"/>
            </a:endParaRPr>
          </a:p>
          <a:p>
            <a:pPr indent="0" lvl="0" marL="0" rtl="0" algn="l">
              <a:lnSpc>
                <a:spcPct val="115000"/>
              </a:lnSpc>
              <a:spcBef>
                <a:spcPts val="1200"/>
              </a:spcBef>
              <a:spcAft>
                <a:spcPts val="0"/>
              </a:spcAft>
              <a:buClr>
                <a:schemeClr val="dk1"/>
              </a:buClr>
              <a:buSzPts val="1100"/>
              <a:buFont typeface="Arial"/>
              <a:buNone/>
            </a:pPr>
            <a:r>
              <a:rPr b="1" lang="en-US" sz="1300">
                <a:latin typeface="Microsoft YaHei"/>
                <a:ea typeface="Microsoft YaHei"/>
                <a:cs typeface="Microsoft YaHei"/>
                <a:sym typeface="Microsoft YaHei"/>
              </a:rPr>
              <a:t>Technical Breakthroughs:</a:t>
            </a:r>
            <a:endParaRPr b="1" sz="1300">
              <a:latin typeface="Microsoft YaHei"/>
              <a:ea typeface="Microsoft YaHei"/>
              <a:cs typeface="Microsoft YaHei"/>
              <a:sym typeface="Microsoft YaHei"/>
            </a:endParaRPr>
          </a:p>
          <a:p>
            <a:pPr indent="-311150" lvl="0" marL="457200" rtl="0" algn="l">
              <a:lnSpc>
                <a:spcPct val="115000"/>
              </a:lnSpc>
              <a:spcBef>
                <a:spcPts val="1200"/>
              </a:spcBef>
              <a:spcAft>
                <a:spcPts val="0"/>
              </a:spcAft>
              <a:buSzPts val="1300"/>
              <a:buChar char="●"/>
            </a:pPr>
            <a:r>
              <a:rPr b="1" lang="en-US" sz="1300">
                <a:latin typeface="Microsoft YaHei"/>
                <a:ea typeface="Microsoft YaHei"/>
                <a:cs typeface="Microsoft YaHei"/>
                <a:sym typeface="Microsoft YaHei"/>
              </a:rPr>
              <a:t>AI Semantic Detection</a:t>
            </a:r>
            <a:r>
              <a:rPr lang="en-US" sz="1300">
                <a:latin typeface="Microsoft YaHei"/>
                <a:ea typeface="Microsoft YaHei"/>
                <a:cs typeface="Microsoft YaHei"/>
                <a:sym typeface="Microsoft YaHei"/>
              </a:rPr>
              <a:t> – First BERT transformer application for communication fraud, detects manipulation patterns keyword filters miss</a:t>
            </a:r>
            <a:endParaRPr sz="1300">
              <a:latin typeface="Microsoft YaHei"/>
              <a:ea typeface="Microsoft YaHei"/>
              <a:cs typeface="Microsoft YaHei"/>
              <a:sym typeface="Microsoft YaHei"/>
            </a:endParaRPr>
          </a:p>
          <a:p>
            <a:pPr indent="-311150" lvl="0" marL="457200" rtl="0" algn="l">
              <a:lnSpc>
                <a:spcPct val="115000"/>
              </a:lnSpc>
              <a:spcBef>
                <a:spcPts val="0"/>
              </a:spcBef>
              <a:spcAft>
                <a:spcPts val="0"/>
              </a:spcAft>
              <a:buSzPts val="1300"/>
              <a:buChar char="●"/>
            </a:pPr>
            <a:r>
              <a:rPr b="1" lang="en-US" sz="1300">
                <a:latin typeface="Microsoft YaHei"/>
                <a:ea typeface="Microsoft YaHei"/>
                <a:cs typeface="Microsoft YaHei"/>
                <a:sym typeface="Microsoft YaHei"/>
              </a:rPr>
              <a:t>Dual-Channel Models</a:t>
            </a:r>
            <a:r>
              <a:rPr lang="en-US" sz="1300">
                <a:latin typeface="Microsoft YaHei"/>
                <a:ea typeface="Microsoft YaHei"/>
                <a:cs typeface="Microsoft YaHei"/>
                <a:sym typeface="Microsoft YaHei"/>
              </a:rPr>
              <a:t> – Separate SMS and voice models optimized for each channel's fraud characteristics</a:t>
            </a:r>
            <a:endParaRPr sz="1300">
              <a:latin typeface="Microsoft YaHei"/>
              <a:ea typeface="Microsoft YaHei"/>
              <a:cs typeface="Microsoft YaHei"/>
              <a:sym typeface="Microsoft YaHei"/>
            </a:endParaRPr>
          </a:p>
          <a:p>
            <a:pPr indent="-311150" lvl="0" marL="457200" rtl="0" algn="l">
              <a:lnSpc>
                <a:spcPct val="115000"/>
              </a:lnSpc>
              <a:spcBef>
                <a:spcPts val="0"/>
              </a:spcBef>
              <a:spcAft>
                <a:spcPts val="0"/>
              </a:spcAft>
              <a:buSzPts val="1300"/>
              <a:buChar char="●"/>
            </a:pPr>
            <a:r>
              <a:rPr b="1" lang="en-US" sz="1300">
                <a:latin typeface="Microsoft YaHei"/>
                <a:ea typeface="Microsoft YaHei"/>
                <a:cs typeface="Microsoft YaHei"/>
                <a:sym typeface="Microsoft YaHei"/>
              </a:rPr>
              <a:t>Mobile-Ready Inference</a:t>
            </a:r>
            <a:r>
              <a:rPr lang="en-US" sz="1300">
                <a:latin typeface="Microsoft YaHei"/>
                <a:ea typeface="Microsoft YaHei"/>
                <a:cs typeface="Microsoft YaHei"/>
                <a:sym typeface="Microsoft YaHei"/>
              </a:rPr>
              <a:t> – BERT-tiny architecture enables real-time detection with practical response times</a:t>
            </a:r>
            <a:endParaRPr sz="1300">
              <a:latin typeface="Microsoft YaHei"/>
              <a:ea typeface="Microsoft YaHei"/>
              <a:cs typeface="Microsoft YaHei"/>
              <a:sym typeface="Microsoft YaHei"/>
            </a:endParaRPr>
          </a:p>
          <a:p>
            <a:pPr indent="0" lvl="0" marL="0" rtl="0" algn="l">
              <a:lnSpc>
                <a:spcPct val="115000"/>
              </a:lnSpc>
              <a:spcBef>
                <a:spcPts val="1200"/>
              </a:spcBef>
              <a:spcAft>
                <a:spcPts val="0"/>
              </a:spcAft>
              <a:buSzPts val="1100"/>
              <a:buNone/>
            </a:pPr>
            <a:r>
              <a:t/>
            </a:r>
            <a:endParaRPr b="1" sz="1300">
              <a:latin typeface="Microsoft YaHei"/>
              <a:ea typeface="Microsoft YaHei"/>
              <a:cs typeface="Microsoft YaHei"/>
              <a:sym typeface="Microsoft YaHei"/>
            </a:endParaRPr>
          </a:p>
          <a:p>
            <a:pPr indent="400050" lvl="0" marL="0" rtl="0" algn="just">
              <a:lnSpc>
                <a:spcPct val="115000"/>
              </a:lnSpc>
              <a:spcBef>
                <a:spcPts val="1200"/>
              </a:spcBef>
              <a:spcAft>
                <a:spcPts val="0"/>
              </a:spcAft>
              <a:buSzPts val="1100"/>
              <a:buNone/>
            </a:pPr>
            <a:r>
              <a:rPr lang="en-US" sz="1300">
                <a:latin typeface="Microsoft YaHei"/>
                <a:ea typeface="Microsoft YaHei"/>
                <a:cs typeface="Microsoft YaHei"/>
                <a:sym typeface="Microsoft YaHei"/>
              </a:rPr>
              <a:t>In comparison to keyword blacklists and phone number blocking systems, SecureCom is the first platform to integrate transformer NLP, dual-channel specialization, and mobile-ready inference for communication fraud detection. The AI models understand semantic context, urgency manipulation, and social engineering language, providing quantifiable fraud assessment that adapts as threats evolve, rather than relying on static rules requiring constant manual updates.</a:t>
            </a:r>
            <a:endParaRPr sz="1300">
              <a:latin typeface="Microsoft YaHei"/>
              <a:ea typeface="Microsoft YaHei"/>
              <a:cs typeface="Microsoft YaHei"/>
              <a:sym typeface="Microsoft YaHei"/>
            </a:endParaRPr>
          </a:p>
          <a:p>
            <a:pPr indent="0" lvl="0" marL="0" rtl="0" algn="l">
              <a:lnSpc>
                <a:spcPct val="95000"/>
              </a:lnSpc>
              <a:spcBef>
                <a:spcPts val="1200"/>
              </a:spcBef>
              <a:spcAft>
                <a:spcPts val="1200"/>
              </a:spcAft>
              <a:buSzPts val="852"/>
              <a:buNone/>
            </a:pPr>
            <a:r>
              <a:t/>
            </a:r>
            <a:endParaRPr b="1" sz="1300">
              <a:latin typeface="Microsoft YaHei"/>
              <a:ea typeface="Microsoft YaHei"/>
              <a:cs typeface="Microsoft YaHei"/>
              <a:sym typeface="Microsoft YaHei"/>
            </a:endParaRPr>
          </a:p>
        </p:txBody>
      </p:sp>
      <p:sp>
        <p:nvSpPr>
          <p:cNvPr id="134" name="Google Shape;134;p12"/>
          <p:cNvSpPr/>
          <p:nvPr/>
        </p:nvSpPr>
        <p:spPr>
          <a:xfrm>
            <a:off x="0" y="6435634"/>
            <a:ext cx="12192000" cy="422366"/>
          </a:xfrm>
          <a:prstGeom prst="rect">
            <a:avLst/>
          </a:prstGeom>
          <a:solidFill>
            <a:srgbClr val="D7E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35" name="Google Shape;135;p12"/>
          <p:cNvPicPr preferRelativeResize="0"/>
          <p:nvPr/>
        </p:nvPicPr>
        <p:blipFill rotWithShape="1">
          <a:blip r:embed="rId3">
            <a:alphaModFix/>
          </a:blip>
          <a:srcRect b="0" l="0" r="0" t="0"/>
          <a:stretch/>
        </p:blipFill>
        <p:spPr>
          <a:xfrm>
            <a:off x="10577550" y="5032375"/>
            <a:ext cx="1614450" cy="1614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3"/>
          <p:cNvSpPr txBox="1"/>
          <p:nvPr/>
        </p:nvSpPr>
        <p:spPr>
          <a:xfrm>
            <a:off x="1046251" y="404410"/>
            <a:ext cx="10736446" cy="3950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90000"/>
              </a:buClr>
              <a:buSzPts val="2799"/>
              <a:buFont typeface="Arial"/>
              <a:buNone/>
            </a:pPr>
            <a:r>
              <a:rPr b="1" lang="en-US" sz="2799">
                <a:solidFill>
                  <a:srgbClr val="990000"/>
                </a:solidFill>
                <a:latin typeface="Microsoft YaHei"/>
                <a:ea typeface="Microsoft YaHei"/>
                <a:cs typeface="Microsoft YaHei"/>
                <a:sym typeface="Microsoft YaHei"/>
              </a:rPr>
              <a:t>Business Value</a:t>
            </a:r>
            <a:endParaRPr b="1" sz="2799">
              <a:solidFill>
                <a:srgbClr val="990000"/>
              </a:solidFill>
              <a:latin typeface="Microsoft YaHei"/>
              <a:ea typeface="Microsoft YaHei"/>
              <a:cs typeface="Microsoft YaHei"/>
              <a:sym typeface="Microsoft YaHei"/>
            </a:endParaRPr>
          </a:p>
        </p:txBody>
      </p:sp>
      <p:sp>
        <p:nvSpPr>
          <p:cNvPr id="141" name="Google Shape;141;p13"/>
          <p:cNvSpPr/>
          <p:nvPr/>
        </p:nvSpPr>
        <p:spPr>
          <a:xfrm>
            <a:off x="0" y="6435634"/>
            <a:ext cx="12192000" cy="422366"/>
          </a:xfrm>
          <a:prstGeom prst="rect">
            <a:avLst/>
          </a:prstGeom>
          <a:solidFill>
            <a:srgbClr val="D7E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42" name="Google Shape;142;p13"/>
          <p:cNvPicPr preferRelativeResize="0"/>
          <p:nvPr/>
        </p:nvPicPr>
        <p:blipFill rotWithShape="1">
          <a:blip r:embed="rId3">
            <a:alphaModFix/>
          </a:blip>
          <a:srcRect b="0" l="0" r="0" t="0"/>
          <a:stretch/>
        </p:blipFill>
        <p:spPr>
          <a:xfrm>
            <a:off x="10677250" y="5252813"/>
            <a:ext cx="1514750" cy="1514750"/>
          </a:xfrm>
          <a:prstGeom prst="rect">
            <a:avLst/>
          </a:prstGeom>
          <a:noFill/>
          <a:ln>
            <a:noFill/>
          </a:ln>
        </p:spPr>
      </p:pic>
      <p:sp>
        <p:nvSpPr>
          <p:cNvPr id="143" name="Google Shape;143;p13"/>
          <p:cNvSpPr txBox="1"/>
          <p:nvPr>
            <p:ph idx="1" type="body"/>
          </p:nvPr>
        </p:nvSpPr>
        <p:spPr>
          <a:xfrm>
            <a:off x="618154" y="1183650"/>
            <a:ext cx="6313500" cy="12024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n-US" sz="1200">
                <a:latin typeface="Microsoft YaHei"/>
                <a:ea typeface="Microsoft YaHei"/>
                <a:cs typeface="Microsoft YaHei"/>
                <a:sym typeface="Microsoft YaHei"/>
              </a:rPr>
              <a:t>Social &amp; Economic Impact</a:t>
            </a:r>
            <a:endParaRPr b="1" sz="1200">
              <a:latin typeface="Microsoft YaHei"/>
              <a:ea typeface="Microsoft YaHei"/>
              <a:cs typeface="Microsoft YaHei"/>
              <a:sym typeface="Microsoft YaHei"/>
            </a:endParaRPr>
          </a:p>
          <a:p>
            <a:pPr indent="-304800" lvl="0" marL="457200" rtl="0" algn="l">
              <a:lnSpc>
                <a:spcPct val="115000"/>
              </a:lnSpc>
              <a:spcBef>
                <a:spcPts val="1200"/>
              </a:spcBef>
              <a:spcAft>
                <a:spcPts val="0"/>
              </a:spcAft>
              <a:buSzPts val="1200"/>
              <a:buFont typeface="Microsoft YaHei"/>
              <a:buChar char="●"/>
            </a:pPr>
            <a:r>
              <a:rPr lang="en-US" sz="1200">
                <a:latin typeface="Microsoft YaHei"/>
                <a:ea typeface="Microsoft YaHei"/>
                <a:cs typeface="Microsoft YaHei"/>
                <a:sym typeface="Microsoft YaHei"/>
              </a:rPr>
              <a:t>Protects users from smishing/vishing losses and psychological harm</a:t>
            </a:r>
            <a:endParaRPr sz="1200">
              <a:latin typeface="Microsoft YaHei"/>
              <a:ea typeface="Microsoft YaHei"/>
              <a:cs typeface="Microsoft YaHei"/>
              <a:sym typeface="Microsoft YaHei"/>
            </a:endParaRPr>
          </a:p>
          <a:p>
            <a:pPr indent="-304800" lvl="0" marL="457200" rtl="0" algn="l">
              <a:lnSpc>
                <a:spcPct val="115000"/>
              </a:lnSpc>
              <a:spcBef>
                <a:spcPts val="0"/>
              </a:spcBef>
              <a:spcAft>
                <a:spcPts val="0"/>
              </a:spcAft>
              <a:buSzPts val="1200"/>
              <a:buFont typeface="Microsoft YaHei"/>
              <a:buChar char="●"/>
            </a:pPr>
            <a:r>
              <a:rPr lang="en-US" sz="1200">
                <a:latin typeface="Microsoft YaHei"/>
                <a:ea typeface="Microsoft YaHei"/>
                <a:cs typeface="Microsoft YaHei"/>
                <a:sym typeface="Microsoft YaHei"/>
              </a:rPr>
              <a:t>Enhances telecom trust and supports secure digital participation</a:t>
            </a:r>
            <a:endParaRPr sz="1200">
              <a:latin typeface="Microsoft YaHei"/>
              <a:ea typeface="Microsoft YaHei"/>
              <a:cs typeface="Microsoft YaHei"/>
              <a:sym typeface="Microsoft YaHei"/>
            </a:endParaRPr>
          </a:p>
          <a:p>
            <a:pPr indent="-304800" lvl="0" marL="457200" rtl="0" algn="l">
              <a:lnSpc>
                <a:spcPct val="115000"/>
              </a:lnSpc>
              <a:spcBef>
                <a:spcPts val="0"/>
              </a:spcBef>
              <a:spcAft>
                <a:spcPts val="0"/>
              </a:spcAft>
              <a:buSzPts val="1200"/>
              <a:buChar char="●"/>
            </a:pPr>
            <a:r>
              <a:rPr lang="en-US" sz="1200">
                <a:latin typeface="Microsoft YaHei"/>
                <a:ea typeface="Microsoft YaHei"/>
                <a:cs typeface="Microsoft YaHei"/>
                <a:sym typeface="Microsoft YaHei"/>
              </a:rPr>
              <a:t>Contributes to </a:t>
            </a:r>
            <a:r>
              <a:rPr b="1" lang="en-US" sz="1200">
                <a:latin typeface="Microsoft YaHei"/>
                <a:ea typeface="Microsoft YaHei"/>
                <a:cs typeface="Microsoft YaHei"/>
                <a:sym typeface="Microsoft YaHei"/>
              </a:rPr>
              <a:t>UN SDGs 8, 9, and 16</a:t>
            </a:r>
            <a:r>
              <a:rPr lang="en-US" sz="1200">
                <a:latin typeface="Microsoft YaHei"/>
                <a:ea typeface="Microsoft YaHei"/>
                <a:cs typeface="Microsoft YaHei"/>
                <a:sym typeface="Microsoft YaHei"/>
              </a:rPr>
              <a:t> by promoting safe digital economies</a:t>
            </a:r>
            <a:endParaRPr sz="1200">
              <a:latin typeface="Microsoft YaHei"/>
              <a:ea typeface="Microsoft YaHei"/>
              <a:cs typeface="Microsoft YaHei"/>
              <a:sym typeface="Microsoft YaHei"/>
            </a:endParaRPr>
          </a:p>
        </p:txBody>
      </p:sp>
      <p:graphicFrame>
        <p:nvGraphicFramePr>
          <p:cNvPr id="144" name="Google Shape;144;p13"/>
          <p:cNvGraphicFramePr/>
          <p:nvPr/>
        </p:nvGraphicFramePr>
        <p:xfrm>
          <a:off x="1202502" y="2499958"/>
          <a:ext cx="3000000" cy="3000000"/>
        </p:xfrm>
        <a:graphic>
          <a:graphicData uri="http://schemas.openxmlformats.org/drawingml/2006/table">
            <a:tbl>
              <a:tblPr>
                <a:noFill/>
                <a:tableStyleId>{A3F053AC-16A3-4EF2-AEF1-51B1CA87C59A}</a:tableStyleId>
              </a:tblPr>
              <a:tblGrid>
                <a:gridCol w="2795200"/>
                <a:gridCol w="7063200"/>
              </a:tblGrid>
              <a:tr h="200025">
                <a:tc>
                  <a:txBody>
                    <a:bodyPr/>
                    <a:lstStyle/>
                    <a:p>
                      <a:pPr indent="0" lvl="0" marL="0" rtl="0" algn="ctr">
                        <a:lnSpc>
                          <a:spcPct val="115000"/>
                        </a:lnSpc>
                        <a:spcBef>
                          <a:spcPts val="0"/>
                        </a:spcBef>
                        <a:spcAft>
                          <a:spcPts val="0"/>
                        </a:spcAft>
                        <a:buNone/>
                      </a:pPr>
                      <a:r>
                        <a:rPr b="1" lang="en-US" sz="1200">
                          <a:latin typeface="Microsoft YaHei"/>
                          <a:ea typeface="Microsoft YaHei"/>
                          <a:cs typeface="Microsoft YaHei"/>
                          <a:sym typeface="Microsoft YaHei"/>
                        </a:rPr>
                        <a:t>SDG</a:t>
                      </a:r>
                      <a:endParaRPr b="1" sz="1200">
                        <a:latin typeface="Microsoft YaHei"/>
                        <a:ea typeface="Microsoft YaHei"/>
                        <a:cs typeface="Microsoft YaHei"/>
                        <a:sym typeface="Microsoft YaHe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DEEF"/>
                    </a:solidFill>
                  </a:tcPr>
                </a:tc>
                <a:tc>
                  <a:txBody>
                    <a:bodyPr/>
                    <a:lstStyle/>
                    <a:p>
                      <a:pPr indent="0" lvl="0" marL="0" rtl="0" algn="ctr">
                        <a:lnSpc>
                          <a:spcPct val="115000"/>
                        </a:lnSpc>
                        <a:spcBef>
                          <a:spcPts val="0"/>
                        </a:spcBef>
                        <a:spcAft>
                          <a:spcPts val="0"/>
                        </a:spcAft>
                        <a:buNone/>
                      </a:pPr>
                      <a:r>
                        <a:rPr b="1" lang="en-US" sz="1200">
                          <a:latin typeface="Microsoft YaHei"/>
                          <a:ea typeface="Microsoft YaHei"/>
                          <a:cs typeface="Microsoft YaHei"/>
                          <a:sym typeface="Microsoft YaHei"/>
                        </a:rPr>
                        <a:t>Contribution of SecureCom</a:t>
                      </a:r>
                      <a:endParaRPr b="1" sz="1200">
                        <a:latin typeface="Microsoft YaHei"/>
                        <a:ea typeface="Microsoft YaHei"/>
                        <a:cs typeface="Microsoft YaHei"/>
                        <a:sym typeface="Microsoft YaHe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DEEF"/>
                    </a:solidFill>
                  </a:tcPr>
                </a:tc>
              </a:tr>
              <a:tr h="200025">
                <a:tc>
                  <a:txBody>
                    <a:bodyPr/>
                    <a:lstStyle/>
                    <a:p>
                      <a:pPr indent="0" lvl="0" marL="0" rtl="0" algn="l">
                        <a:spcBef>
                          <a:spcPts val="0"/>
                        </a:spcBef>
                        <a:spcAft>
                          <a:spcPts val="0"/>
                        </a:spcAft>
                        <a:buNone/>
                      </a:pPr>
                      <a:r>
                        <a:rPr b="1" lang="en-US" sz="1200">
                          <a:latin typeface="Microsoft YaHei"/>
                          <a:ea typeface="Microsoft YaHei"/>
                          <a:cs typeface="Microsoft YaHei"/>
                          <a:sym typeface="Microsoft YaHei"/>
                        </a:rPr>
                        <a:t>SDG 8 – Decent Work and Economic Growth</a:t>
                      </a:r>
                      <a:endParaRPr b="1" sz="1200">
                        <a:latin typeface="Microsoft YaHei"/>
                        <a:ea typeface="Microsoft YaHei"/>
                        <a:cs typeface="Microsoft YaHei"/>
                        <a:sym typeface="Microsoft YaHe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latin typeface="Microsoft YaHei"/>
                          <a:ea typeface="Microsoft YaHei"/>
                          <a:cs typeface="Microsoft YaHei"/>
                          <a:sym typeface="Microsoft YaHei"/>
                        </a:rPr>
                        <a:t>Protects individuals and small businesses from fraud-related financial losses, enabling safer participation in the digital economy.</a:t>
                      </a:r>
                      <a:endParaRPr sz="1200">
                        <a:latin typeface="Microsoft YaHei"/>
                        <a:ea typeface="Microsoft YaHei"/>
                        <a:cs typeface="Microsoft YaHei"/>
                        <a:sym typeface="Microsoft YaHe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1475">
                <a:tc>
                  <a:txBody>
                    <a:bodyPr/>
                    <a:lstStyle/>
                    <a:p>
                      <a:pPr indent="0" lvl="0" marL="0" rtl="0" algn="l">
                        <a:spcBef>
                          <a:spcPts val="0"/>
                        </a:spcBef>
                        <a:spcAft>
                          <a:spcPts val="0"/>
                        </a:spcAft>
                        <a:buNone/>
                      </a:pPr>
                      <a:r>
                        <a:rPr b="1" lang="en-US" sz="1200">
                          <a:latin typeface="Microsoft YaHei"/>
                          <a:ea typeface="Microsoft YaHei"/>
                          <a:cs typeface="Microsoft YaHei"/>
                          <a:sym typeface="Microsoft YaHei"/>
                        </a:rPr>
                        <a:t>SDG 9 – Industry, Innovation, and Infrastructure</a:t>
                      </a:r>
                      <a:endParaRPr b="1" sz="1200">
                        <a:latin typeface="Microsoft YaHei"/>
                        <a:ea typeface="Microsoft YaHei"/>
                        <a:cs typeface="Microsoft YaHei"/>
                        <a:sym typeface="Microsoft YaHe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latin typeface="Microsoft YaHei"/>
                          <a:ea typeface="Microsoft YaHei"/>
                          <a:cs typeface="Microsoft YaHei"/>
                          <a:sym typeface="Microsoft YaHei"/>
                        </a:rPr>
                        <a:t>Strengthens the reliability of digital communication networks and promotes trust in mobile technologies through AI-driven cybersecurity innovation.</a:t>
                      </a:r>
                      <a:endParaRPr sz="1200">
                        <a:latin typeface="Microsoft YaHei"/>
                        <a:ea typeface="Microsoft YaHei"/>
                        <a:cs typeface="Microsoft YaHei"/>
                        <a:sym typeface="Microsoft YaHe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US" sz="1200">
                          <a:latin typeface="Microsoft YaHei"/>
                          <a:ea typeface="Microsoft YaHei"/>
                          <a:cs typeface="Microsoft YaHei"/>
                          <a:sym typeface="Microsoft YaHei"/>
                        </a:rPr>
                        <a:t>SDG 16 – Peace, Justice, and Strong Institutions</a:t>
                      </a:r>
                      <a:endParaRPr b="1" sz="1200">
                        <a:latin typeface="Microsoft YaHei"/>
                        <a:ea typeface="Microsoft YaHei"/>
                        <a:cs typeface="Microsoft YaHei"/>
                        <a:sym typeface="Microsoft YaHe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latin typeface="Microsoft YaHei"/>
                          <a:ea typeface="Microsoft YaHei"/>
                          <a:cs typeface="Microsoft YaHei"/>
                          <a:sym typeface="Microsoft YaHei"/>
                        </a:rPr>
                        <a:t>Reduces cyber-enabled crime by identifying fraudulent communications early, supporting law enforcement and public protection efforts.</a:t>
                      </a:r>
                      <a:endParaRPr sz="1200">
                        <a:latin typeface="Microsoft YaHei"/>
                        <a:ea typeface="Microsoft YaHei"/>
                        <a:cs typeface="Microsoft YaHei"/>
                        <a:sym typeface="Microsoft YaHe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45" name="Google Shape;145;p13"/>
          <p:cNvSpPr txBox="1"/>
          <p:nvPr/>
        </p:nvSpPr>
        <p:spPr>
          <a:xfrm>
            <a:off x="618150" y="4750012"/>
            <a:ext cx="10828800" cy="1108200"/>
          </a:xfrm>
          <a:prstGeom prst="rect">
            <a:avLst/>
          </a:prstGeom>
          <a:noFill/>
          <a:ln>
            <a:noFill/>
          </a:ln>
        </p:spPr>
        <p:txBody>
          <a:bodyPr anchorCtr="0" anchor="t" bIns="91425" lIns="91425" spcFirstLastPara="1" rIns="91425" wrap="square" tIns="91425">
            <a:spAutoFit/>
          </a:bodyPr>
          <a:lstStyle/>
          <a:p>
            <a:pPr indent="400050" lvl="0" marL="0" rtl="0" algn="just">
              <a:spcBef>
                <a:spcPts val="0"/>
              </a:spcBef>
              <a:spcAft>
                <a:spcPts val="0"/>
              </a:spcAft>
              <a:buNone/>
            </a:pPr>
            <a:r>
              <a:rPr lang="en-US" sz="1200">
                <a:solidFill>
                  <a:schemeClr val="dk1"/>
                </a:solidFill>
                <a:latin typeface="Microsoft YaHei"/>
                <a:ea typeface="Microsoft YaHei"/>
                <a:cs typeface="Microsoft YaHei"/>
                <a:sym typeface="Microsoft YaHei"/>
              </a:rPr>
              <a:t>SecureCom delivers both economic and social impact by protecting users and small businesses from communication fraud, fostering safer participation in the digital economy. By strengthening trust in mobile communication systems, it supports </a:t>
            </a:r>
            <a:r>
              <a:rPr b="1" lang="en-US" sz="1200">
                <a:solidFill>
                  <a:schemeClr val="dk1"/>
                </a:solidFill>
                <a:latin typeface="Microsoft YaHei"/>
                <a:ea typeface="Microsoft YaHei"/>
                <a:cs typeface="Microsoft YaHei"/>
                <a:sym typeface="Microsoft YaHei"/>
              </a:rPr>
              <a:t>SDG 9 (Industry, Innovation, and Infrastructure)</a:t>
            </a:r>
            <a:r>
              <a:rPr lang="en-US" sz="1200">
                <a:solidFill>
                  <a:schemeClr val="dk1"/>
                </a:solidFill>
                <a:latin typeface="Microsoft YaHei"/>
                <a:ea typeface="Microsoft YaHei"/>
                <a:cs typeface="Microsoft YaHei"/>
                <a:sym typeface="Microsoft YaHei"/>
              </a:rPr>
              <a:t> and </a:t>
            </a:r>
            <a:r>
              <a:rPr b="1" lang="en-US" sz="1200">
                <a:solidFill>
                  <a:schemeClr val="dk1"/>
                </a:solidFill>
                <a:latin typeface="Microsoft YaHei"/>
                <a:ea typeface="Microsoft YaHei"/>
                <a:cs typeface="Microsoft YaHei"/>
                <a:sym typeface="Microsoft YaHei"/>
              </a:rPr>
              <a:t>SDG 8 (Decent Work and Economic Growth)</a:t>
            </a:r>
            <a:r>
              <a:rPr lang="en-US" sz="1200">
                <a:solidFill>
                  <a:schemeClr val="dk1"/>
                </a:solidFill>
                <a:latin typeface="Microsoft YaHei"/>
                <a:ea typeface="Microsoft YaHei"/>
                <a:cs typeface="Microsoft YaHei"/>
                <a:sym typeface="Microsoft YaHei"/>
              </a:rPr>
              <a:t> through secure digital adoption. Additionally, by detecting scams early and potentially aiding law enforcement, it advances </a:t>
            </a:r>
            <a:r>
              <a:rPr b="1" lang="en-US" sz="1200">
                <a:solidFill>
                  <a:schemeClr val="dk1"/>
                </a:solidFill>
                <a:latin typeface="Microsoft YaHei"/>
                <a:ea typeface="Microsoft YaHei"/>
                <a:cs typeface="Microsoft YaHei"/>
                <a:sym typeface="Microsoft YaHei"/>
              </a:rPr>
              <a:t>SDG 16 (Peace, Justice, and Strong Institutions)</a:t>
            </a:r>
            <a:r>
              <a:rPr lang="en-US" sz="1200">
                <a:solidFill>
                  <a:schemeClr val="dk1"/>
                </a:solidFill>
                <a:latin typeface="Microsoft YaHei"/>
                <a:ea typeface="Microsoft YaHei"/>
                <a:cs typeface="Microsoft YaHei"/>
                <a:sym typeface="Microsoft YaHei"/>
              </a:rPr>
              <a:t>. Overall, SecureCom positions itself as a sustainable, AI-driven solution that promotes financial safety and digital confidence.</a:t>
            </a:r>
            <a:endParaRPr sz="1200">
              <a:latin typeface="Microsoft YaHei"/>
              <a:ea typeface="Microsoft YaHei"/>
              <a:cs typeface="Microsoft YaHei"/>
              <a:sym typeface="Microsoft YaHe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4"/>
          <p:cNvSpPr txBox="1"/>
          <p:nvPr/>
        </p:nvSpPr>
        <p:spPr>
          <a:xfrm>
            <a:off x="1046251" y="404410"/>
            <a:ext cx="10736446" cy="395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b="1" lang="en-US" sz="2799">
                <a:solidFill>
                  <a:srgbClr val="990000"/>
                </a:solidFill>
                <a:latin typeface="Microsoft YaHei"/>
                <a:ea typeface="Microsoft YaHei"/>
                <a:cs typeface="Microsoft YaHei"/>
                <a:sym typeface="Microsoft YaHei"/>
              </a:rPr>
              <a:t>Development Status &amp; Roadmap</a:t>
            </a:r>
            <a:endParaRPr b="1" sz="2799">
              <a:solidFill>
                <a:srgbClr val="990000"/>
              </a:solidFill>
              <a:latin typeface="Microsoft YaHei"/>
              <a:ea typeface="Microsoft YaHei"/>
              <a:cs typeface="Microsoft YaHei"/>
              <a:sym typeface="Microsoft YaHei"/>
            </a:endParaRPr>
          </a:p>
          <a:p>
            <a:pPr indent="0" lvl="0" marL="0" rtl="0" algn="l">
              <a:lnSpc>
                <a:spcPct val="90000"/>
              </a:lnSpc>
              <a:spcBef>
                <a:spcPts val="0"/>
              </a:spcBef>
              <a:spcAft>
                <a:spcPts val="0"/>
              </a:spcAft>
              <a:buClr>
                <a:schemeClr val="dk1"/>
              </a:buClr>
              <a:buSzPts val="1100"/>
              <a:buFont typeface="Arial"/>
              <a:buNone/>
            </a:pPr>
            <a:r>
              <a:t/>
            </a:r>
            <a:endParaRPr b="1" sz="2799">
              <a:solidFill>
                <a:srgbClr val="990000"/>
              </a:solidFill>
              <a:latin typeface="Microsoft YaHei"/>
              <a:ea typeface="Microsoft YaHei"/>
              <a:cs typeface="Microsoft YaHei"/>
              <a:sym typeface="Microsoft YaHei"/>
            </a:endParaRPr>
          </a:p>
          <a:p>
            <a:pPr indent="0" lvl="0" marL="0" marR="0" rtl="0" algn="l">
              <a:lnSpc>
                <a:spcPct val="90000"/>
              </a:lnSpc>
              <a:spcBef>
                <a:spcPts val="0"/>
              </a:spcBef>
              <a:spcAft>
                <a:spcPts val="0"/>
              </a:spcAft>
              <a:buClr>
                <a:srgbClr val="990000"/>
              </a:buClr>
              <a:buSzPts val="2799"/>
              <a:buFont typeface="Arial"/>
              <a:buNone/>
            </a:pPr>
            <a:r>
              <a:t/>
            </a:r>
            <a:endParaRPr b="1" sz="2799">
              <a:solidFill>
                <a:srgbClr val="990000"/>
              </a:solidFill>
              <a:latin typeface="Microsoft YaHei"/>
              <a:ea typeface="Microsoft YaHei"/>
              <a:cs typeface="Microsoft YaHei"/>
              <a:sym typeface="Microsoft YaHei"/>
            </a:endParaRPr>
          </a:p>
        </p:txBody>
      </p:sp>
      <p:sp>
        <p:nvSpPr>
          <p:cNvPr id="151" name="Google Shape;151;p14"/>
          <p:cNvSpPr/>
          <p:nvPr/>
        </p:nvSpPr>
        <p:spPr>
          <a:xfrm>
            <a:off x="0" y="6435634"/>
            <a:ext cx="12192000" cy="422366"/>
          </a:xfrm>
          <a:prstGeom prst="rect">
            <a:avLst/>
          </a:prstGeom>
          <a:solidFill>
            <a:srgbClr val="D7E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52" name="Google Shape;152;p14"/>
          <p:cNvPicPr preferRelativeResize="0"/>
          <p:nvPr/>
        </p:nvPicPr>
        <p:blipFill rotWithShape="1">
          <a:blip r:embed="rId3">
            <a:alphaModFix/>
          </a:blip>
          <a:srcRect b="0" l="0" r="0" t="0"/>
          <a:stretch/>
        </p:blipFill>
        <p:spPr>
          <a:xfrm>
            <a:off x="10434034" y="4888851"/>
            <a:ext cx="1757966" cy="1757966"/>
          </a:xfrm>
          <a:prstGeom prst="rect">
            <a:avLst/>
          </a:prstGeom>
          <a:noFill/>
          <a:ln>
            <a:noFill/>
          </a:ln>
        </p:spPr>
      </p:pic>
      <p:sp>
        <p:nvSpPr>
          <p:cNvPr id="153" name="Google Shape;153;p14"/>
          <p:cNvSpPr txBox="1"/>
          <p:nvPr>
            <p:ph idx="1" type="body"/>
          </p:nvPr>
        </p:nvSpPr>
        <p:spPr>
          <a:xfrm>
            <a:off x="583650" y="1231675"/>
            <a:ext cx="10729500" cy="5203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1000"/>
              </a:spcBef>
              <a:spcAft>
                <a:spcPts val="0"/>
              </a:spcAft>
              <a:buNone/>
            </a:pPr>
            <a:r>
              <a:rPr b="1" lang="en-US" sz="1600"/>
              <a:t>Current Status (Prototype Achievements)</a:t>
            </a:r>
            <a:endParaRPr b="1" sz="1600"/>
          </a:p>
          <a:p>
            <a:pPr indent="-203200" lvl="0" marL="685800" rtl="0" algn="l">
              <a:lnSpc>
                <a:spcPct val="150000"/>
              </a:lnSpc>
              <a:spcBef>
                <a:spcPts val="1000"/>
              </a:spcBef>
              <a:spcAft>
                <a:spcPts val="0"/>
              </a:spcAft>
              <a:buSzPts val="1400"/>
              <a:buChar char="✔"/>
            </a:pPr>
            <a:r>
              <a:rPr lang="en-US" sz="1400"/>
              <a:t>Data Infrastructure: Complete preprocessing pipeline (cleaning, normalization, tokenization) tested on SMS and voice datasets</a:t>
            </a:r>
            <a:endParaRPr sz="1400"/>
          </a:p>
          <a:p>
            <a:pPr indent="-203200" lvl="0" marL="685800" rtl="0" algn="l">
              <a:lnSpc>
                <a:spcPct val="150000"/>
              </a:lnSpc>
              <a:spcBef>
                <a:spcPts val="1000"/>
              </a:spcBef>
              <a:spcAft>
                <a:spcPts val="0"/>
              </a:spcAft>
              <a:buSzPts val="1400"/>
              <a:buChar char="✔"/>
            </a:pPr>
            <a:r>
              <a:rPr lang="en-US" sz="1400"/>
              <a:t>AI Models: Dual BERT-tiny models fine-tuned for SMS and voice fraud detection</a:t>
            </a:r>
            <a:endParaRPr sz="1400"/>
          </a:p>
          <a:p>
            <a:pPr indent="-203200" lvl="0" marL="685800" rtl="0" algn="l">
              <a:lnSpc>
                <a:spcPct val="150000"/>
              </a:lnSpc>
              <a:spcBef>
                <a:spcPts val="1000"/>
              </a:spcBef>
              <a:spcAft>
                <a:spcPts val="0"/>
              </a:spcAft>
              <a:buSzPts val="1400"/>
              <a:buChar char="✔"/>
            </a:pPr>
            <a:r>
              <a:rPr lang="en-US" sz="1400"/>
              <a:t>Backend API: Flask REST API with authentication, dual endpoints</a:t>
            </a:r>
            <a:endParaRPr sz="1400"/>
          </a:p>
          <a:p>
            <a:pPr indent="-203200" lvl="0" marL="685800" rtl="0" algn="l">
              <a:lnSpc>
                <a:spcPct val="150000"/>
              </a:lnSpc>
              <a:spcBef>
                <a:spcPts val="1000"/>
              </a:spcBef>
              <a:spcAft>
                <a:spcPts val="0"/>
              </a:spcAft>
              <a:buSzPts val="1400"/>
              <a:buChar char="✔"/>
            </a:pPr>
            <a:r>
              <a:rPr lang="en-US" sz="1400"/>
              <a:t>Mobile Interface: Flutter prototype developed with fraud visualization UI</a:t>
            </a:r>
            <a:endParaRPr sz="1400"/>
          </a:p>
          <a:p>
            <a:pPr indent="-203200" lvl="0" marL="685800" rtl="0" algn="l">
              <a:lnSpc>
                <a:spcPct val="150000"/>
              </a:lnSpc>
              <a:spcBef>
                <a:spcPts val="1000"/>
              </a:spcBef>
              <a:spcAft>
                <a:spcPts val="0"/>
              </a:spcAft>
              <a:buSzPts val="1400"/>
              <a:buChar char="✔"/>
            </a:pPr>
            <a:r>
              <a:rPr lang="en-US" sz="1400"/>
              <a:t>Deploy models to Huawei Cloud OBS for scalable distribution</a:t>
            </a:r>
            <a:endParaRPr sz="1400"/>
          </a:p>
          <a:p>
            <a:pPr indent="0" lvl="0" marL="0" rtl="0" algn="l">
              <a:lnSpc>
                <a:spcPct val="150000"/>
              </a:lnSpc>
              <a:spcBef>
                <a:spcPts val="1000"/>
              </a:spcBef>
              <a:spcAft>
                <a:spcPts val="0"/>
              </a:spcAft>
              <a:buNone/>
            </a:pPr>
            <a:br>
              <a:rPr b="1" lang="en-US" sz="1600"/>
            </a:br>
            <a:r>
              <a:rPr b="1" lang="en-US" sz="1600"/>
              <a:t>Next Steps &amp; Expansion</a:t>
            </a:r>
            <a:endParaRPr b="1" sz="1600"/>
          </a:p>
          <a:p>
            <a:pPr indent="-317500" lvl="0" marL="914400" rtl="0" algn="l">
              <a:lnSpc>
                <a:spcPct val="150000"/>
              </a:lnSpc>
              <a:spcBef>
                <a:spcPts val="1000"/>
              </a:spcBef>
              <a:spcAft>
                <a:spcPts val="0"/>
              </a:spcAft>
              <a:buSzPts val="1400"/>
              <a:buChar char="❏"/>
            </a:pPr>
            <a:r>
              <a:rPr lang="en-US" sz="1400"/>
              <a:t>May integrate FunctionGraph for automated updates,  ModelArts for model lifecycle management, and Huawei Mobile Services (HMS) to enable real-time SMS and call event detection</a:t>
            </a:r>
            <a:endParaRPr sz="1400"/>
          </a:p>
          <a:p>
            <a:pPr indent="-317500" lvl="0" marL="914400" rtl="0" algn="l">
              <a:lnSpc>
                <a:spcPct val="150000"/>
              </a:lnSpc>
              <a:spcBef>
                <a:spcPts val="0"/>
              </a:spcBef>
              <a:spcAft>
                <a:spcPts val="0"/>
              </a:spcAft>
              <a:buSzPts val="1400"/>
              <a:buChar char="❏"/>
            </a:pPr>
            <a:r>
              <a:rPr lang="en-US" sz="1400"/>
              <a:t>Expand datasets to include other main and regional languages</a:t>
            </a:r>
            <a:endParaRPr sz="1400"/>
          </a:p>
          <a:p>
            <a:pPr indent="-317500" lvl="0" marL="914400" rtl="0" algn="l">
              <a:lnSpc>
                <a:spcPct val="150000"/>
              </a:lnSpc>
              <a:spcBef>
                <a:spcPts val="0"/>
              </a:spcBef>
              <a:spcAft>
                <a:spcPts val="0"/>
              </a:spcAft>
              <a:buSzPts val="1400"/>
              <a:buChar char="❏"/>
            </a:pPr>
            <a:r>
              <a:rPr lang="en-US" sz="1400"/>
              <a:t>Establish pilot partnership with telecom provider/s for real-world testing</a:t>
            </a:r>
            <a:endParaRPr sz="1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nvSpPr>
        <p:spPr>
          <a:xfrm>
            <a:off x="1046251" y="404410"/>
            <a:ext cx="10736446" cy="3950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90000"/>
              </a:buClr>
              <a:buSzPts val="2799"/>
              <a:buFont typeface="Arial"/>
              <a:buNone/>
            </a:pPr>
            <a:r>
              <a:rPr b="1" lang="en-US" sz="2799">
                <a:solidFill>
                  <a:srgbClr val="990000"/>
                </a:solidFill>
                <a:latin typeface="Microsoft YaHei"/>
                <a:ea typeface="Microsoft YaHei"/>
                <a:cs typeface="Microsoft YaHei"/>
                <a:sym typeface="Microsoft YaHei"/>
              </a:rPr>
              <a:t>Demo (For Semi-finals)</a:t>
            </a:r>
            <a:endParaRPr b="1" sz="2799">
              <a:solidFill>
                <a:srgbClr val="990000"/>
              </a:solidFill>
              <a:latin typeface="Microsoft YaHei"/>
              <a:ea typeface="Microsoft YaHei"/>
              <a:cs typeface="Microsoft YaHei"/>
              <a:sym typeface="Microsoft YaHei"/>
            </a:endParaRPr>
          </a:p>
        </p:txBody>
      </p:sp>
      <p:sp>
        <p:nvSpPr>
          <p:cNvPr id="159" name="Google Shape;159;p15"/>
          <p:cNvSpPr/>
          <p:nvPr/>
        </p:nvSpPr>
        <p:spPr>
          <a:xfrm>
            <a:off x="5304" y="6427396"/>
            <a:ext cx="12192000" cy="422366"/>
          </a:xfrm>
          <a:prstGeom prst="rect">
            <a:avLst/>
          </a:prstGeom>
          <a:solidFill>
            <a:srgbClr val="D7E4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60" name="Google Shape;160;p15"/>
          <p:cNvPicPr preferRelativeResize="0"/>
          <p:nvPr/>
        </p:nvPicPr>
        <p:blipFill rotWithShape="1">
          <a:blip r:embed="rId3">
            <a:alphaModFix/>
          </a:blip>
          <a:srcRect b="0" l="0" r="0" t="0"/>
          <a:stretch/>
        </p:blipFill>
        <p:spPr>
          <a:xfrm>
            <a:off x="10434034" y="4888851"/>
            <a:ext cx="1757966" cy="1757966"/>
          </a:xfrm>
          <a:prstGeom prst="rect">
            <a:avLst/>
          </a:prstGeom>
          <a:noFill/>
          <a:ln>
            <a:noFill/>
          </a:ln>
        </p:spPr>
      </p:pic>
      <p:sp>
        <p:nvSpPr>
          <p:cNvPr id="161" name="Google Shape;161;p15"/>
          <p:cNvSpPr txBox="1"/>
          <p:nvPr>
            <p:ph idx="1" type="body"/>
          </p:nvPr>
        </p:nvSpPr>
        <p:spPr>
          <a:xfrm>
            <a:off x="559342" y="1157415"/>
            <a:ext cx="10729500" cy="400200"/>
          </a:xfrm>
          <a:prstGeom prst="rect">
            <a:avLst/>
          </a:prstGeom>
          <a:noFill/>
          <a:ln>
            <a:noFill/>
          </a:ln>
        </p:spPr>
        <p:txBody>
          <a:bodyPr anchorCtr="0" anchor="t" bIns="45700" lIns="91425" spcFirstLastPara="1" rIns="91425" wrap="square" tIns="45700">
            <a:spAutoFit/>
          </a:bodyPr>
          <a:lstStyle/>
          <a:p>
            <a:pPr indent="-285635" lvl="0" marL="285635" rtl="0" algn="l">
              <a:lnSpc>
                <a:spcPct val="150000"/>
              </a:lnSpc>
              <a:spcBef>
                <a:spcPts val="0"/>
              </a:spcBef>
              <a:spcAft>
                <a:spcPts val="0"/>
              </a:spcAft>
              <a:buClr>
                <a:srgbClr val="FF0000"/>
              </a:buClr>
              <a:buSzPts val="2000"/>
              <a:buFont typeface="Arial"/>
              <a:buChar char="•"/>
            </a:pPr>
            <a:r>
              <a:rPr b="1" lang="en-US" sz="2000" u="none">
                <a:solidFill>
                  <a:srgbClr val="FF0000"/>
                </a:solidFill>
              </a:rPr>
              <a:t>Demo</a:t>
            </a:r>
            <a:endParaRPr b="1" sz="3600"/>
          </a:p>
        </p:txBody>
      </p:sp>
      <p:pic>
        <p:nvPicPr>
          <p:cNvPr id="162" name="Google Shape;162;p15" title="Demo Video.mp4">
            <a:hlinkClick r:id="rId4"/>
          </p:cNvPr>
          <p:cNvPicPr preferRelativeResize="0"/>
          <p:nvPr/>
        </p:nvPicPr>
        <p:blipFill>
          <a:blip r:embed="rId5">
            <a:alphaModFix/>
          </a:blip>
          <a:stretch>
            <a:fillRect/>
          </a:stretch>
        </p:blipFill>
        <p:spPr>
          <a:xfrm>
            <a:off x="2486862" y="1679986"/>
            <a:ext cx="6874474" cy="3866875"/>
          </a:xfrm>
          <a:prstGeom prst="rect">
            <a:avLst/>
          </a:prstGeom>
          <a:noFill/>
          <a:ln>
            <a:noFill/>
          </a:ln>
        </p:spPr>
      </p:pic>
      <p:sp>
        <p:nvSpPr>
          <p:cNvPr id="163" name="Google Shape;163;p15"/>
          <p:cNvSpPr txBox="1"/>
          <p:nvPr>
            <p:ph idx="1" type="body"/>
          </p:nvPr>
        </p:nvSpPr>
        <p:spPr>
          <a:xfrm>
            <a:off x="559350" y="5633125"/>
            <a:ext cx="9031500" cy="7080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1600">
                <a:latin typeface="Times New Roman"/>
                <a:ea typeface="Times New Roman"/>
                <a:cs typeface="Times New Roman"/>
                <a:sym typeface="Times New Roman"/>
              </a:rPr>
              <a:t>Google Drive Link: https://drive.google.com/drive/folders/15P3v2yMIQmAtSPdY8zMQgd9ZZrXyIJbc?usp=sharing</a:t>
            </a:r>
            <a:endParaRPr b="1" sz="32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16"/>
          <p:cNvPicPr preferRelativeResize="0"/>
          <p:nvPr/>
        </p:nvPicPr>
        <p:blipFill rotWithShape="1">
          <a:blip r:embed="rId3">
            <a:alphaModFix/>
          </a:blip>
          <a:srcRect b="0" l="0" r="0" t="0"/>
          <a:stretch/>
        </p:blipFill>
        <p:spPr>
          <a:xfrm>
            <a:off x="10434034" y="4888851"/>
            <a:ext cx="1757966" cy="1757966"/>
          </a:xfrm>
          <a:prstGeom prst="rect">
            <a:avLst/>
          </a:prstGeom>
          <a:noFill/>
          <a:ln>
            <a:noFill/>
          </a:ln>
        </p:spPr>
      </p:pic>
      <p:sp>
        <p:nvSpPr>
          <p:cNvPr id="169" name="Google Shape;169;p16"/>
          <p:cNvSpPr txBox="1"/>
          <p:nvPr/>
        </p:nvSpPr>
        <p:spPr>
          <a:xfrm>
            <a:off x="727800" y="2773225"/>
            <a:ext cx="10736400" cy="38736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990000"/>
              </a:buClr>
              <a:buSzPts val="4400"/>
              <a:buFont typeface="Arial"/>
              <a:buNone/>
            </a:pPr>
            <a:r>
              <a:rPr b="1" lang="en-US" sz="5000" u="none">
                <a:solidFill>
                  <a:srgbClr val="990000"/>
                </a:solidFill>
                <a:latin typeface="Arial"/>
                <a:ea typeface="Arial"/>
                <a:cs typeface="Arial"/>
                <a:sym typeface="Arial"/>
              </a:rPr>
              <a:t>THANK YOU</a:t>
            </a:r>
            <a:endParaRPr b="1" sz="5000" u="none">
              <a:solidFill>
                <a:srgbClr val="990000"/>
              </a:solidFill>
              <a:latin typeface="Arial"/>
              <a:ea typeface="Arial"/>
              <a:cs typeface="Arial"/>
              <a:sym typeface="Arial"/>
            </a:endParaRPr>
          </a:p>
          <a:p>
            <a:pPr indent="0" lvl="0" marL="0" marR="0" rtl="0" algn="ctr">
              <a:lnSpc>
                <a:spcPct val="90000"/>
              </a:lnSpc>
              <a:spcBef>
                <a:spcPts val="0"/>
              </a:spcBef>
              <a:spcAft>
                <a:spcPts val="0"/>
              </a:spcAft>
              <a:buClr>
                <a:srgbClr val="990000"/>
              </a:buClr>
              <a:buSzPts val="4400"/>
              <a:buFont typeface="Arial"/>
              <a:buNone/>
            </a:pPr>
            <a:r>
              <a:t/>
            </a:r>
            <a:endParaRPr b="1" sz="2400">
              <a:solidFill>
                <a:srgbClr val="575756"/>
              </a:solidFill>
            </a:endParaRPr>
          </a:p>
          <a:p>
            <a:pPr indent="0" lvl="0" marL="0" marR="0" rtl="0" algn="ctr">
              <a:lnSpc>
                <a:spcPct val="90000"/>
              </a:lnSpc>
              <a:spcBef>
                <a:spcPts val="0"/>
              </a:spcBef>
              <a:spcAft>
                <a:spcPts val="0"/>
              </a:spcAft>
              <a:buClr>
                <a:srgbClr val="990000"/>
              </a:buClr>
              <a:buSzPts val="4400"/>
              <a:buFont typeface="Arial"/>
              <a:buNone/>
            </a:pPr>
            <a:r>
              <a:t/>
            </a:r>
            <a:endParaRPr b="1" sz="2400">
              <a:solidFill>
                <a:srgbClr val="575756"/>
              </a:solidFill>
            </a:endParaRPr>
          </a:p>
          <a:p>
            <a:pPr indent="0" lvl="0" marL="0" marR="0" rtl="0" algn="ctr">
              <a:lnSpc>
                <a:spcPct val="90000"/>
              </a:lnSpc>
              <a:spcBef>
                <a:spcPts val="0"/>
              </a:spcBef>
              <a:spcAft>
                <a:spcPts val="0"/>
              </a:spcAft>
              <a:buClr>
                <a:srgbClr val="990000"/>
              </a:buClr>
              <a:buSzPts val="4400"/>
              <a:buFont typeface="Arial"/>
              <a:buNone/>
            </a:pPr>
            <a:r>
              <a:t/>
            </a:r>
            <a:endParaRPr b="1" sz="2400">
              <a:solidFill>
                <a:srgbClr val="575756"/>
              </a:solidFill>
            </a:endParaRPr>
          </a:p>
          <a:p>
            <a:pPr indent="0" lvl="0" marL="0" marR="0" rtl="0" algn="ctr">
              <a:lnSpc>
                <a:spcPct val="90000"/>
              </a:lnSpc>
              <a:spcBef>
                <a:spcPts val="0"/>
              </a:spcBef>
              <a:spcAft>
                <a:spcPts val="0"/>
              </a:spcAft>
              <a:buClr>
                <a:srgbClr val="990000"/>
              </a:buClr>
              <a:buSzPts val="4400"/>
              <a:buFont typeface="Arial"/>
              <a:buNone/>
            </a:pPr>
            <a:r>
              <a:t/>
            </a:r>
            <a:endParaRPr b="1" sz="2400">
              <a:solidFill>
                <a:srgbClr val="575756"/>
              </a:solidFill>
            </a:endParaRPr>
          </a:p>
          <a:p>
            <a:pPr indent="0" lvl="0" marL="0" rtl="0" algn="ctr">
              <a:lnSpc>
                <a:spcPct val="90000"/>
              </a:lnSpc>
              <a:spcBef>
                <a:spcPts val="0"/>
              </a:spcBef>
              <a:spcAft>
                <a:spcPts val="0"/>
              </a:spcAft>
              <a:buClr>
                <a:schemeClr val="dk1"/>
              </a:buClr>
              <a:buSzPts val="1100"/>
              <a:buFont typeface="Arial"/>
              <a:buNone/>
            </a:pPr>
            <a:r>
              <a:rPr b="1" lang="en-US" sz="1900">
                <a:solidFill>
                  <a:srgbClr val="575756"/>
                </a:solidFill>
              </a:rPr>
              <a:t>Team SMGyupsal</a:t>
            </a:r>
            <a:br>
              <a:rPr b="1" lang="en-US" sz="1900">
                <a:solidFill>
                  <a:srgbClr val="575756"/>
                </a:solidFill>
              </a:rPr>
            </a:br>
            <a:endParaRPr b="1" sz="1700">
              <a:solidFill>
                <a:srgbClr val="575756"/>
              </a:solidFill>
            </a:endParaRPr>
          </a:p>
          <a:p>
            <a:pPr indent="0" lvl="0" marL="0" rtl="0" algn="ctr">
              <a:lnSpc>
                <a:spcPct val="90000"/>
              </a:lnSpc>
              <a:spcBef>
                <a:spcPts val="0"/>
              </a:spcBef>
              <a:spcAft>
                <a:spcPts val="0"/>
              </a:spcAft>
              <a:buClr>
                <a:schemeClr val="dk1"/>
              </a:buClr>
              <a:buSzPts val="1100"/>
              <a:buFont typeface="Arial"/>
              <a:buNone/>
            </a:pPr>
            <a:r>
              <a:rPr b="1" lang="en-US" sz="1600">
                <a:solidFill>
                  <a:srgbClr val="9E9E9E"/>
                </a:solidFill>
              </a:rPr>
              <a:t>- Gob, Mark Jeonel Kenn -</a:t>
            </a:r>
            <a:endParaRPr b="1" sz="1600">
              <a:solidFill>
                <a:srgbClr val="9E9E9E"/>
              </a:solidFill>
            </a:endParaRPr>
          </a:p>
          <a:p>
            <a:pPr indent="0" lvl="0" marL="0" rtl="0" algn="ctr">
              <a:lnSpc>
                <a:spcPct val="90000"/>
              </a:lnSpc>
              <a:spcBef>
                <a:spcPts val="0"/>
              </a:spcBef>
              <a:spcAft>
                <a:spcPts val="0"/>
              </a:spcAft>
              <a:buClr>
                <a:schemeClr val="dk1"/>
              </a:buClr>
              <a:buSzPts val="1100"/>
              <a:buFont typeface="Arial"/>
              <a:buNone/>
            </a:pPr>
            <a:r>
              <a:rPr b="1" lang="en-US" sz="1600">
                <a:solidFill>
                  <a:srgbClr val="9E9E9E"/>
                </a:solidFill>
              </a:rPr>
              <a:t>- Manuel, Hazel Aillson -</a:t>
            </a:r>
            <a:endParaRPr b="1" sz="1600">
              <a:solidFill>
                <a:srgbClr val="9E9E9E"/>
              </a:solidFill>
            </a:endParaRPr>
          </a:p>
          <a:p>
            <a:pPr indent="0" lvl="0" marL="0" rtl="0" algn="ctr">
              <a:lnSpc>
                <a:spcPct val="90000"/>
              </a:lnSpc>
              <a:spcBef>
                <a:spcPts val="0"/>
              </a:spcBef>
              <a:spcAft>
                <a:spcPts val="0"/>
              </a:spcAft>
              <a:buClr>
                <a:schemeClr val="dk1"/>
              </a:buClr>
              <a:buSzPts val="1100"/>
              <a:buFont typeface="Arial"/>
              <a:buNone/>
            </a:pPr>
            <a:r>
              <a:rPr b="1" lang="en-US" sz="1600">
                <a:solidFill>
                  <a:srgbClr val="9E9E9E"/>
                </a:solidFill>
              </a:rPr>
              <a:t>- Santos, Andrei -</a:t>
            </a:r>
            <a:endParaRPr b="1" sz="1600">
              <a:solidFill>
                <a:srgbClr val="99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